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9"/>
  </p:notesMasterIdLst>
  <p:handoutMasterIdLst>
    <p:handoutMasterId r:id="rId30"/>
  </p:handoutMasterIdLst>
  <p:sldIdLst>
    <p:sldId id="305" r:id="rId5"/>
    <p:sldId id="306" r:id="rId6"/>
    <p:sldId id="319" r:id="rId7"/>
    <p:sldId id="356" r:id="rId8"/>
    <p:sldId id="369" r:id="rId9"/>
    <p:sldId id="381" r:id="rId10"/>
    <p:sldId id="371" r:id="rId11"/>
    <p:sldId id="370" r:id="rId12"/>
    <p:sldId id="378" r:id="rId13"/>
    <p:sldId id="382" r:id="rId14"/>
    <p:sldId id="379" r:id="rId15"/>
    <p:sldId id="383" r:id="rId16"/>
    <p:sldId id="376" r:id="rId17"/>
    <p:sldId id="375" r:id="rId18"/>
    <p:sldId id="363" r:id="rId19"/>
    <p:sldId id="372" r:id="rId20"/>
    <p:sldId id="373" r:id="rId21"/>
    <p:sldId id="377" r:id="rId22"/>
    <p:sldId id="380" r:id="rId23"/>
    <p:sldId id="374" r:id="rId24"/>
    <p:sldId id="365" r:id="rId25"/>
    <p:sldId id="331" r:id="rId26"/>
    <p:sldId id="330" r:id="rId27"/>
    <p:sldId id="31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44" autoAdjust="0"/>
    <p:restoredTop sz="94682"/>
  </p:normalViewPr>
  <p:slideViewPr>
    <p:cSldViewPr snapToGrid="0">
      <p:cViewPr varScale="1">
        <p:scale>
          <a:sx n="92" d="100"/>
          <a:sy n="92" d="100"/>
        </p:scale>
        <p:origin x="504" y="36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11/12/2025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11/12/2025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Got flyback and iso-</a:t>
            </a:r>
            <a:r>
              <a:rPr lang="en-US" dirty="0" err="1"/>
              <a:t>adc</a:t>
            </a:r>
            <a:r>
              <a:rPr lang="en-US" dirty="0"/>
              <a:t> breakout boards</a:t>
            </a:r>
          </a:p>
          <a:p>
            <a:r>
              <a:rPr lang="en-US" dirty="0"/>
              <a:t>Made final amplifier stages</a:t>
            </a:r>
          </a:p>
          <a:p>
            <a:r>
              <a:rPr lang="en-US" dirty="0"/>
              <a:t>Made voltage controlled current source circuitry</a:t>
            </a:r>
          </a:p>
          <a:p>
            <a:r>
              <a:rPr lang="en-US" dirty="0"/>
              <a:t>Did first pass final board placement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8" name="Content Placeholder 7" descr="A computer screen shot of a computer&#10;&#10;AI-generated content may be incorrect.">
            <a:extLst>
              <a:ext uri="{FF2B5EF4-FFF2-40B4-BE49-F238E27FC236}">
                <a16:creationId xmlns:a16="http://schemas.microsoft.com/office/drawing/2014/main" id="{CBF501DD-2679-27C6-0E18-C2D18F0BE1E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095061" y="1267153"/>
            <a:ext cx="6762149" cy="5406269"/>
          </a:xfr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40E9-FFC4-E95C-0DA7-8F7E2751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FCCBF-5C4E-16D8-0ABF-C53343580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4C7EB-6CAA-A63A-88C2-5704BA844A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8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794619-DE3B-EFD3-07EF-2EBF36516BF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1086" y="1349664"/>
            <a:ext cx="6421317" cy="5081033"/>
          </a:xfrm>
        </p:spPr>
      </p:pic>
      <p:pic>
        <p:nvPicPr>
          <p:cNvPr id="10" name="Picture 9" descr="A diagram of a computer&#10;&#10;AI-generated content may be incorrect.">
            <a:extLst>
              <a:ext uri="{FF2B5EF4-FFF2-40B4-BE49-F238E27FC236}">
                <a16:creationId xmlns:a16="http://schemas.microsoft.com/office/drawing/2014/main" id="{AECD1315-0872-339B-F0A9-A15B9001BD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04" y="1563203"/>
            <a:ext cx="4515241" cy="3067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6240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5C05D-10DF-18FA-72DF-54A71C540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Kill Switch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5CF2EE-B903-C5DC-A59D-7A63AFA7594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692661" cy="4479925"/>
          </a:xfrm>
        </p:spPr>
        <p:txBody>
          <a:bodyPr/>
          <a:lstStyle/>
          <a:p>
            <a:r>
              <a:rPr lang="en-US" dirty="0"/>
              <a:t>Cut off 12V enable because otherwise the switching regulators will be on and incur losses</a:t>
            </a:r>
          </a:p>
          <a:p>
            <a:r>
              <a:rPr lang="en-US" dirty="0"/>
              <a:t>Comes at the price of powering down MCU</a:t>
            </a:r>
          </a:p>
          <a:p>
            <a:r>
              <a:rPr lang="en-US" dirty="0"/>
              <a:t>Soft kill is currently done through software. Ideally will add button but need to find space.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4258E1-7CD9-2787-6FE4-23E179379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5951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DCEA-2D78-6D09-B40C-B7A2F86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from Audio Jack to BNC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4D19F-2A22-7B06-E482-12ECAF8CDB6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10028" cy="4479925"/>
          </a:xfrm>
        </p:spPr>
        <p:txBody>
          <a:bodyPr/>
          <a:lstStyle/>
          <a:p>
            <a:r>
              <a:rPr lang="en-US" dirty="0"/>
              <a:t>More robust</a:t>
            </a:r>
          </a:p>
          <a:p>
            <a:r>
              <a:rPr lang="en-US" dirty="0"/>
              <a:t>Downside is size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724DA2-F5DF-4BC2-88B0-0AB4E6FF689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8716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3B480-5176-1B5F-792F-379FB3DAA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A1471-B840-BB5B-42B1-508B4335C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70D1A-3B5B-6253-FD9A-6AA34979805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875BE5-AE9F-F7F4-811C-8031D90B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1955" y="1275978"/>
            <a:ext cx="5677392" cy="51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214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EFA90-96AD-4970-8C36-76A89555F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 Simulation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CD5AA-291B-3245-DD82-FDEF2CF081D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0" name="Content Placeholder 9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C404127-3A03-406B-AED9-4F80AFA0CC0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79770" y="1194081"/>
            <a:ext cx="10438165" cy="5311697"/>
          </a:xfrm>
        </p:spPr>
      </p:pic>
    </p:spTree>
    <p:extLst>
      <p:ext uri="{BB962C8B-B14F-4D97-AF65-F5344CB8AC3E}">
        <p14:creationId xmlns:p14="http://schemas.microsoft.com/office/powerpoint/2010/main" val="643244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45DD4-5A49-40D0-0F88-D49903E6B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D97E7-B81F-5D4D-C4D3-741B5085629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829821" cy="4479925"/>
          </a:xfrm>
        </p:spPr>
        <p:txBody>
          <a:bodyPr/>
          <a:lstStyle/>
          <a:p>
            <a:r>
              <a:rPr lang="en-US" dirty="0"/>
              <a:t>Use a midpoint offset to turn 0-5 V sine wave into a -5-5 mA current source</a:t>
            </a:r>
          </a:p>
          <a:p>
            <a:r>
              <a:rPr lang="en-US" dirty="0"/>
              <a:t>Tight tolerance resistor which has the voltage across it controlled such that current is known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59A58-35AC-83EB-E018-A31EB46402C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23349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A1DF4-D540-6470-A839-25D7C855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Controlled Attenuator Simulation</a:t>
            </a:r>
          </a:p>
        </p:txBody>
      </p:sp>
      <p:pic>
        <p:nvPicPr>
          <p:cNvPr id="6" name="Content Placeholder 5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4F1E2247-5C25-450A-A96D-0C99EC08230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84137" y="1182112"/>
            <a:ext cx="11236135" cy="564452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A1033-8131-CFC9-0049-E6288AA74D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074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87EC-2BF1-19FE-DD2B-F621F5BA6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Controlled Attenuator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BAB09-3855-BBFF-47B1-B4531A29DC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After initial amplification the sine wave will be max 0-5V constant sine wave, so need amplitude control</a:t>
            </a:r>
          </a:p>
          <a:p>
            <a:r>
              <a:rPr lang="en-US" dirty="0"/>
              <a:t>Step down instead of up. Apply a negative voltage to the gate of a JFET to control linear region resistance of the device</a:t>
            </a:r>
          </a:p>
          <a:p>
            <a:r>
              <a:rPr lang="en-US" dirty="0"/>
              <a:t>Use JFETs in voltage divider to step down voltage swing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F10AA-BAF6-9455-8BE5-C1A9E75B92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91109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C781-9AB5-68C2-CDF0-AE9B5AB89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E22CC-8BFB-77D7-6632-D38D3330F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2A9A26-51A7-06E7-448D-BD42430583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Content Placeholder 5" descr="A computer screen shot of a diagram&#10;&#10;AI-generated content may be incorrect.">
            <a:extLst>
              <a:ext uri="{FF2B5EF4-FFF2-40B4-BE49-F238E27FC236}">
                <a16:creationId xmlns:a16="http://schemas.microsoft.com/office/drawing/2014/main" id="{C4DA20E1-AE65-E71A-6C6D-A4EA6193C00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445732" y="1518961"/>
            <a:ext cx="6556375" cy="4324209"/>
          </a:xfrm>
        </p:spPr>
      </p:pic>
    </p:spTree>
    <p:extLst>
      <p:ext uri="{BB962C8B-B14F-4D97-AF65-F5344CB8AC3E}">
        <p14:creationId xmlns:p14="http://schemas.microsoft.com/office/powerpoint/2010/main" val="8797230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B7C16-1994-6014-3C73-9D30B3A67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5E870-6971-3B7A-DDF8-076EBC42A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8D7D0-E06D-4EE4-31DF-8F2E0ADFD20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6" name="Content Placeholder 5" descr="A diagram of a circuit&#10;&#10;AI-generated content may be incorrect.">
            <a:extLst>
              <a:ext uri="{FF2B5EF4-FFF2-40B4-BE49-F238E27FC236}">
                <a16:creationId xmlns:a16="http://schemas.microsoft.com/office/drawing/2014/main" id="{C03BD0EC-224E-9607-8969-4C64EEC8B06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678487" y="1923086"/>
            <a:ext cx="6556375" cy="3732090"/>
          </a:xfrm>
        </p:spPr>
      </p:pic>
    </p:spTree>
    <p:extLst>
      <p:ext uri="{BB962C8B-B14F-4D97-AF65-F5344CB8AC3E}">
        <p14:creationId xmlns:p14="http://schemas.microsoft.com/office/powerpoint/2010/main" val="2484167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C8AC3-807C-62C8-5224-1854B81E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C6CA4-C0D1-4555-D2B3-7FA045915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>
            <a:normAutofit/>
          </a:bodyPr>
          <a:lstStyle/>
          <a:p>
            <a:r>
              <a:rPr lang="en-US" dirty="0"/>
              <a:t>ADC Breakout board Layout</a:t>
            </a:r>
          </a:p>
        </p:txBody>
      </p:sp>
      <p:pic>
        <p:nvPicPr>
          <p:cNvPr id="6" name="Content Placeholder 5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8B9390A1-5373-A9D7-F219-6D8DBAED310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992562" y="1365126"/>
            <a:ext cx="4206875" cy="412774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6952B-23AF-5ED9-5150-234D2C7693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81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D1845-E26C-6985-878D-B130F8D09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Converter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2E3B09-4F85-4E47-A0CD-7D14778130E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Get +/-30 V rails</a:t>
            </a:r>
          </a:p>
          <a:p>
            <a:r>
              <a:rPr lang="en-US" dirty="0"/>
              <a:t>Incur some losses from two switching converters, almost unavoidable</a:t>
            </a:r>
          </a:p>
          <a:p>
            <a:r>
              <a:rPr lang="en-US" dirty="0"/>
              <a:t>Feed into final amplifier stage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5A9979-A4D0-259B-FF77-0AFABBF2DAF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370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06DDE-99E0-0E96-AFB6-05ACE51E9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Breakout</a:t>
            </a:r>
          </a:p>
        </p:txBody>
      </p:sp>
      <p:pic>
        <p:nvPicPr>
          <p:cNvPr id="6" name="Content Placeholder 5" descr="A green circuit board with black and grey objects&#10;&#10;AI-generated content may be incorrect.">
            <a:extLst>
              <a:ext uri="{FF2B5EF4-FFF2-40B4-BE49-F238E27FC236}">
                <a16:creationId xmlns:a16="http://schemas.microsoft.com/office/drawing/2014/main" id="{0128C25E-EBF4-F7AB-E5B7-2A6A6728C34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158942" y="1605015"/>
            <a:ext cx="7346662" cy="44942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CD448A-253F-94C7-461E-1633F74C494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7615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1EF5E-9D8E-D445-9FF0-0322DDB9B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Board Placement</a:t>
            </a:r>
          </a:p>
        </p:txBody>
      </p:sp>
      <p:pic>
        <p:nvPicPr>
          <p:cNvPr id="6" name="Content Placeholder 5" descr="A computer screen shot of a computer chip&#10;&#10;AI-generated content may be incorrect.">
            <a:extLst>
              <a:ext uri="{FF2B5EF4-FFF2-40B4-BE49-F238E27FC236}">
                <a16:creationId xmlns:a16="http://schemas.microsoft.com/office/drawing/2014/main" id="{CE7641A6-F493-D1A5-2626-BD60E10E6F7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475615" y="439420"/>
            <a:ext cx="5285585" cy="622800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418861-D9D3-3CBC-9C7D-E2BBE9AF7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8" name="Picture 7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AB3E22B2-7F34-8C5B-00E5-D0DA2028DE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066" y="1924396"/>
            <a:ext cx="5000121" cy="4307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391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587B2-7474-6181-832E-132C3E27CB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Components</a:t>
            </a:r>
          </a:p>
        </p:txBody>
      </p:sp>
      <p:pic>
        <p:nvPicPr>
          <p:cNvPr id="6" name="Content Placeholder 5" descr="A blue circuit board with white and gold components&#10;&#10;AI-generated content may be incorrect.">
            <a:extLst>
              <a:ext uri="{FF2B5EF4-FFF2-40B4-BE49-F238E27FC236}">
                <a16:creationId xmlns:a16="http://schemas.microsoft.com/office/drawing/2014/main" id="{DE182F29-B81A-D733-93D8-4DB34A0C3E7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396" y="1666702"/>
            <a:ext cx="5087189" cy="3618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5A3FA-50E2-BDAB-F48B-35A75836901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8" name="Picture 7" descr="A small black and white circuit board&#10;&#10;AI-generated content may be incorrect.">
            <a:extLst>
              <a:ext uri="{FF2B5EF4-FFF2-40B4-BE49-F238E27FC236}">
                <a16:creationId xmlns:a16="http://schemas.microsoft.com/office/drawing/2014/main" id="{1E2FED39-8D33-C62D-57ED-D04F6D9C6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593" y="1750466"/>
            <a:ext cx="4789516" cy="3849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5856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7952B-DB24-BDD9-7748-20F9423AB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79386"/>
            <a:ext cx="10479024" cy="557784"/>
          </a:xfrm>
        </p:spPr>
        <p:txBody>
          <a:bodyPr/>
          <a:lstStyle/>
          <a:p>
            <a:r>
              <a:rPr lang="en-US" dirty="0"/>
              <a:t>Programming interface for the ADC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2D04729-9A3C-FA02-EEC9-97CC09B2041C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093086" y="4410849"/>
            <a:ext cx="2636897" cy="236731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4F2621-5064-54E3-00E0-804CA2FA995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CEBC9AB-2969-CB51-B53E-5984AF0E8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0794" y="506902"/>
            <a:ext cx="4136138" cy="3880497"/>
          </a:xfrm>
          <a:prstGeom prst="rect">
            <a:avLst/>
          </a:prstGeom>
        </p:spPr>
      </p:pic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6200DAF-5339-9C51-E4D4-F73C485A8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43" y="530352"/>
            <a:ext cx="3897908" cy="4479925"/>
          </a:xfrm>
          <a:prstGeom prst="rect">
            <a:avLst/>
          </a:prstGeom>
        </p:spPr>
      </p:pic>
      <p:pic>
        <p:nvPicPr>
          <p:cNvPr id="12" name="Picture 11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B207E472-4696-3CAD-D10C-38AA0DE8A5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769" y="530352"/>
            <a:ext cx="4423495" cy="5379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3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60E7-D27A-1C0A-6CD5-364C193F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9354B-C796-1926-1CEE-088B8D9B86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Current Expenses :</a:t>
            </a:r>
          </a:p>
          <a:p>
            <a:r>
              <a:rPr lang="en-US" dirty="0"/>
              <a:t>DDS Test Board: $33</a:t>
            </a:r>
          </a:p>
          <a:p>
            <a:r>
              <a:rPr lang="en-US" dirty="0"/>
              <a:t>Component Order: $140</a:t>
            </a:r>
          </a:p>
          <a:p>
            <a:r>
              <a:rPr lang="en-US" dirty="0"/>
              <a:t>Battery Order: $44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Total</a:t>
            </a:r>
            <a:r>
              <a:rPr lang="en-US"/>
              <a:t>: $217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9821-24B7-EE51-078D-0B7963AC20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95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Choosing Connector</a:t>
            </a:r>
          </a:p>
          <a:p>
            <a:r>
              <a:rPr lang="en-US" dirty="0"/>
              <a:t>Board sizing</a:t>
            </a:r>
          </a:p>
          <a:p>
            <a:r>
              <a:rPr lang="en-US" dirty="0"/>
              <a:t>Power supply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Get MCU pinout</a:t>
            </a:r>
          </a:p>
          <a:p>
            <a:r>
              <a:rPr lang="en-US" dirty="0"/>
              <a:t>Route board and order by Friday</a:t>
            </a:r>
          </a:p>
          <a:p>
            <a:r>
              <a:rPr lang="en-US" dirty="0"/>
              <a:t>Test subsections before board order</a:t>
            </a:r>
          </a:p>
          <a:p>
            <a:r>
              <a:rPr lang="en-US" dirty="0"/>
              <a:t>Get BOM together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382</TotalTime>
  <Words>341</Words>
  <Application>Microsoft Office PowerPoint</Application>
  <PresentationFormat>Widescreen</PresentationFormat>
  <Paragraphs>78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Schematic Updates</vt:lpstr>
      <vt:lpstr>Schematic Updates Continued</vt:lpstr>
      <vt:lpstr>Kill Switch</vt:lpstr>
      <vt:lpstr>Switch from Audio Jack to BNC</vt:lpstr>
      <vt:lpstr>Schematic Updates Continued</vt:lpstr>
      <vt:lpstr>Current Source Simulation</vt:lpstr>
      <vt:lpstr>Current Source</vt:lpstr>
      <vt:lpstr>Voltage Controlled Attenuator Simulation</vt:lpstr>
      <vt:lpstr>Voltage Controlled Attenuator</vt:lpstr>
      <vt:lpstr>Schematic Updates Continued</vt:lpstr>
      <vt:lpstr>Schematic Updates Continued</vt:lpstr>
      <vt:lpstr>ADC Breakout board Layout</vt:lpstr>
      <vt:lpstr>Flyback Converter</vt:lpstr>
      <vt:lpstr>Flyback Breakout</vt:lpstr>
      <vt:lpstr>Final Board Placement</vt:lpstr>
      <vt:lpstr>Other Components</vt:lpstr>
      <vt:lpstr>Programming interface for the ADC</vt:lpstr>
      <vt:lpstr>Budget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Keith White</cp:lastModifiedBy>
  <cp:revision>36</cp:revision>
  <dcterms:created xsi:type="dcterms:W3CDTF">2025-09-17T17:10:44Z</dcterms:created>
  <dcterms:modified xsi:type="dcterms:W3CDTF">2025-11-12T17:31:59Z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