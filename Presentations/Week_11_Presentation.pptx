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305" r:id="rId5"/>
    <p:sldId id="306" r:id="rId6"/>
    <p:sldId id="319" r:id="rId7"/>
    <p:sldId id="356" r:id="rId8"/>
    <p:sldId id="369" r:id="rId9"/>
    <p:sldId id="381" r:id="rId10"/>
    <p:sldId id="371" r:id="rId11"/>
    <p:sldId id="370" r:id="rId12"/>
    <p:sldId id="378" r:id="rId13"/>
    <p:sldId id="382" r:id="rId14"/>
    <p:sldId id="379" r:id="rId15"/>
    <p:sldId id="383" r:id="rId16"/>
    <p:sldId id="376" r:id="rId17"/>
    <p:sldId id="375" r:id="rId18"/>
    <p:sldId id="363" r:id="rId19"/>
    <p:sldId id="384" r:id="rId20"/>
    <p:sldId id="385" r:id="rId21"/>
    <p:sldId id="372" r:id="rId22"/>
    <p:sldId id="373" r:id="rId23"/>
    <p:sldId id="377" r:id="rId24"/>
    <p:sldId id="380" r:id="rId25"/>
    <p:sldId id="374" r:id="rId26"/>
    <p:sldId id="365" r:id="rId27"/>
    <p:sldId id="331" r:id="rId28"/>
    <p:sldId id="330" r:id="rId29"/>
    <p:sldId id="31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44" autoAdjust="0"/>
    <p:restoredTop sz="94682"/>
  </p:normalViewPr>
  <p:slideViewPr>
    <p:cSldViewPr snapToGrid="0">
      <p:cViewPr>
        <p:scale>
          <a:sx n="75" d="100"/>
          <a:sy n="75" d="100"/>
        </p:scale>
        <p:origin x="36" y="-176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11/12/2025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7:35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11/12/2025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1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1240" y="2231136"/>
            <a:ext cx="6080760" cy="4626864"/>
          </a:xfr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18B122A-848F-E50E-C503-3930933A5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/>
          <a:stretch/>
        </p:blipFill>
        <p:spPr>
          <a:xfrm>
            <a:off x="8401354" y="0"/>
            <a:ext cx="3790646" cy="685799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8CD9875-E4AF-D7EA-9F8B-D27F2C3104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513E8A3-5E78-5821-6B7B-AF6343ACA7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256415C-5388-7D35-1C15-8DA4ACDCA1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B78E2E7-B83A-F17C-9869-FED59DD51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1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2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321C850-160D-5CD7-B829-ADE752EA7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3105707-8D59-D00C-596A-380479D0E0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DC4FC4F-BE00-1554-FEBD-DE21F3AB35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A310F08-0B34-7E1C-7605-4F8150235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3371AFC-6FAC-3C10-CCC0-ECE8DB9E99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024" cy="2679192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62272"/>
            <a:ext cx="12188952" cy="239572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0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0F0E0D3-11E9-A85D-821D-49C27B06B0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433D848-BBB0-8852-CBA7-96FB04BFAD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556"/>
          <a:stretch/>
        </p:blipFill>
        <p:spPr>
          <a:xfrm>
            <a:off x="10687351" y="4584700"/>
            <a:ext cx="1504649" cy="11303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A0A5B28-1267-FF8C-DD34-4AE0CE17F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2FE7896-D379-408C-54BB-757C71F0DE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9515" r="34180"/>
          <a:stretch/>
        </p:blipFill>
        <p:spPr>
          <a:xfrm>
            <a:off x="10687351" y="1141376"/>
            <a:ext cx="1504649" cy="11540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7E02B10-F9DF-509C-64D5-91DEB69881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455" y="1536826"/>
            <a:ext cx="5650992" cy="55778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2267712"/>
            <a:ext cx="5650992" cy="376732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7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DCE1CF12-4201-C23B-7B9A-02EB4F8A7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396"/>
          <a:stretch/>
        </p:blipFill>
        <p:spPr>
          <a:xfrm>
            <a:off x="0" y="5731980"/>
            <a:ext cx="12192000" cy="11387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13CE0C7-867A-80BB-9E96-3008375B7E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854" b="83396"/>
          <a:stretch/>
        </p:blipFill>
        <p:spPr>
          <a:xfrm>
            <a:off x="0" y="12700"/>
            <a:ext cx="3797300" cy="11387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36CB758-B1DB-F2E0-00E7-BF5660C5F2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3598" b="49858"/>
          <a:stretch/>
        </p:blipFill>
        <p:spPr>
          <a:xfrm>
            <a:off x="0" y="9452"/>
            <a:ext cx="1517954" cy="11462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A780F1E2-F795-D408-7361-9B32EA12F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36676"/>
            <a:ext cx="3785616" cy="518464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536827"/>
            <a:ext cx="6556247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05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4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342900" indent="-342900">
              <a:lnSpc>
                <a:spcPct val="9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7448" y="1536827"/>
            <a:ext cx="6592824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D831DA-EDBD-A492-3E6D-6ABBF4438F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 b="83148"/>
          <a:stretch/>
        </p:blipFill>
        <p:spPr>
          <a:xfrm>
            <a:off x="10687350" y="12700"/>
            <a:ext cx="1504649" cy="11557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0071AEB-E268-A464-7197-69FA762C3C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444"/>
          <a:stretch/>
        </p:blipFill>
        <p:spPr>
          <a:xfrm>
            <a:off x="10687351" y="9452"/>
            <a:ext cx="1504649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7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C5788EE-4EDA-20FA-8EB9-2F0639E8A2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D053CA0-7A9F-FC49-AD3F-F3280344D7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67F6939-7B7E-F49F-8219-DC8CDAC85D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ACCA700-291A-CD50-0CF3-749300C8D7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FADD4D-8EF2-3DF8-F5F4-9459752D54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5B36F67-81DA-36AC-5D17-0172FF5A70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" y="1527048"/>
            <a:ext cx="10479024" cy="4498848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6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3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2952" y="0"/>
            <a:ext cx="6099048" cy="687628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4" name="Title 123">
            <a:extLst>
              <a:ext uri="{FF2B5EF4-FFF2-40B4-BE49-F238E27FC236}">
                <a16:creationId xmlns:a16="http://schemas.microsoft.com/office/drawing/2014/main" id="{5EF8E4BF-2FB4-FFDD-E565-805C4762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4" y="832104"/>
            <a:ext cx="6099048" cy="5219236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3" name="Text Placeholder 122">
            <a:extLst>
              <a:ext uri="{FF2B5EF4-FFF2-40B4-BE49-F238E27FC236}">
                <a16:creationId xmlns:a16="http://schemas.microsoft.com/office/drawing/2014/main" id="{25C59923-6546-AB3B-534C-22113CD9D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353" y="-1"/>
            <a:ext cx="3790650" cy="1155691"/>
          </a:xfrm>
          <a:custGeom>
            <a:avLst/>
            <a:gdLst>
              <a:gd name="connsiteX0" fmla="*/ 2293575 w 3790650"/>
              <a:gd name="connsiteY0" fmla="*/ 0 h 1155691"/>
              <a:gd name="connsiteX1" fmla="*/ 3790650 w 3790650"/>
              <a:gd name="connsiteY1" fmla="*/ 0 h 1155691"/>
              <a:gd name="connsiteX2" fmla="*/ 3790650 w 3790650"/>
              <a:gd name="connsiteY2" fmla="*/ 1098632 h 1155691"/>
              <a:gd name="connsiteX3" fmla="*/ 3775153 w 3790650"/>
              <a:gd name="connsiteY3" fmla="*/ 1104304 h 1155691"/>
              <a:gd name="connsiteX4" fmla="*/ 3435268 w 3790650"/>
              <a:gd name="connsiteY4" fmla="*/ 1155691 h 1155691"/>
              <a:gd name="connsiteX5" fmla="*/ 2292295 w 3790650"/>
              <a:gd name="connsiteY5" fmla="*/ 12701 h 1155691"/>
              <a:gd name="connsiteX6" fmla="*/ 1280 w 3790650"/>
              <a:gd name="connsiteY6" fmla="*/ 0 h 1155691"/>
              <a:gd name="connsiteX7" fmla="*/ 2284665 w 3790650"/>
              <a:gd name="connsiteY7" fmla="*/ 0 h 1155691"/>
              <a:gd name="connsiteX8" fmla="*/ 2285945 w 3790650"/>
              <a:gd name="connsiteY8" fmla="*/ 12701 h 1155691"/>
              <a:gd name="connsiteX9" fmla="*/ 1142973 w 3790650"/>
              <a:gd name="connsiteY9" fmla="*/ 1155691 h 1155691"/>
              <a:gd name="connsiteX10" fmla="*/ 0 w 3790650"/>
              <a:gd name="connsiteY10" fmla="*/ 12701 h 1155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0650" h="1155691">
                <a:moveTo>
                  <a:pt x="2293575" y="0"/>
                </a:moveTo>
                <a:lnTo>
                  <a:pt x="3790650" y="0"/>
                </a:lnTo>
                <a:lnTo>
                  <a:pt x="3790650" y="1098632"/>
                </a:lnTo>
                <a:lnTo>
                  <a:pt x="3775153" y="1104304"/>
                </a:lnTo>
                <a:cubicBezTo>
                  <a:pt x="3667783" y="1137700"/>
                  <a:pt x="3553627" y="1155691"/>
                  <a:pt x="3435268" y="1155691"/>
                </a:cubicBezTo>
                <a:cubicBezTo>
                  <a:pt x="2804021" y="1155691"/>
                  <a:pt x="2292295" y="643957"/>
                  <a:pt x="2292295" y="12701"/>
                </a:cubicBezTo>
                <a:close/>
                <a:moveTo>
                  <a:pt x="1280" y="0"/>
                </a:moveTo>
                <a:lnTo>
                  <a:pt x="2284665" y="0"/>
                </a:lnTo>
                <a:lnTo>
                  <a:pt x="2285945" y="12701"/>
                </a:lnTo>
                <a:cubicBezTo>
                  <a:pt x="2285945" y="643957"/>
                  <a:pt x="1774219" y="1155691"/>
                  <a:pt x="1142973" y="1155691"/>
                </a:cubicBezTo>
                <a:cubicBezTo>
                  <a:pt x="511726" y="1155691"/>
                  <a:pt x="0" y="643957"/>
                  <a:pt x="0" y="12701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80C9A0C-95B8-C535-9B78-63FDB782BE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3" y="5727700"/>
            <a:ext cx="12192003" cy="1130300"/>
          </a:xfrm>
          <a:custGeom>
            <a:avLst/>
            <a:gdLst>
              <a:gd name="connsiteX0" fmla="*/ 11823828 w 12192003"/>
              <a:gd name="connsiteY0" fmla="*/ 0 h 1130300"/>
              <a:gd name="connsiteX1" fmla="*/ 12163721 w 12192003"/>
              <a:gd name="connsiteY1" fmla="*/ 51387 h 1130300"/>
              <a:gd name="connsiteX2" fmla="*/ 12192003 w 12192003"/>
              <a:gd name="connsiteY2" fmla="*/ 61738 h 1130300"/>
              <a:gd name="connsiteX3" fmla="*/ 12192003 w 12192003"/>
              <a:gd name="connsiteY3" fmla="*/ 1130300 h 1130300"/>
              <a:gd name="connsiteX4" fmla="*/ 10681469 w 12192003"/>
              <a:gd name="connsiteY4" fmla="*/ 1130300 h 1130300"/>
              <a:gd name="connsiteX5" fmla="*/ 10686729 w 12192003"/>
              <a:gd name="connsiteY5" fmla="*/ 1026126 h 1130300"/>
              <a:gd name="connsiteX6" fmla="*/ 11823828 w 12192003"/>
              <a:gd name="connsiteY6" fmla="*/ 0 h 1130300"/>
              <a:gd name="connsiteX7" fmla="*/ 9531478 w 12192003"/>
              <a:gd name="connsiteY7" fmla="*/ 0 h 1130300"/>
              <a:gd name="connsiteX8" fmla="*/ 10668577 w 12192003"/>
              <a:gd name="connsiteY8" fmla="*/ 1026126 h 1130300"/>
              <a:gd name="connsiteX9" fmla="*/ 10673837 w 12192003"/>
              <a:gd name="connsiteY9" fmla="*/ 1130300 h 1130300"/>
              <a:gd name="connsiteX10" fmla="*/ 8389119 w 12192003"/>
              <a:gd name="connsiteY10" fmla="*/ 1130300 h 1130300"/>
              <a:gd name="connsiteX11" fmla="*/ 8394379 w 12192003"/>
              <a:gd name="connsiteY11" fmla="*/ 1026126 h 1130300"/>
              <a:gd name="connsiteX12" fmla="*/ 9531478 w 12192003"/>
              <a:gd name="connsiteY12" fmla="*/ 0 h 1130300"/>
              <a:gd name="connsiteX13" fmla="*/ 7239129 w 12192003"/>
              <a:gd name="connsiteY13" fmla="*/ 0 h 1130300"/>
              <a:gd name="connsiteX14" fmla="*/ 8376227 w 12192003"/>
              <a:gd name="connsiteY14" fmla="*/ 1026126 h 1130300"/>
              <a:gd name="connsiteX15" fmla="*/ 8381487 w 12192003"/>
              <a:gd name="connsiteY15" fmla="*/ 1130300 h 1130300"/>
              <a:gd name="connsiteX16" fmla="*/ 6096769 w 12192003"/>
              <a:gd name="connsiteY16" fmla="*/ 1130300 h 1130300"/>
              <a:gd name="connsiteX17" fmla="*/ 6102029 w 12192003"/>
              <a:gd name="connsiteY17" fmla="*/ 1026126 h 1130300"/>
              <a:gd name="connsiteX18" fmla="*/ 7239129 w 12192003"/>
              <a:gd name="connsiteY18" fmla="*/ 0 h 1130300"/>
              <a:gd name="connsiteX19" fmla="*/ 4946780 w 12192003"/>
              <a:gd name="connsiteY19" fmla="*/ 0 h 1130300"/>
              <a:gd name="connsiteX20" fmla="*/ 6083878 w 12192003"/>
              <a:gd name="connsiteY20" fmla="*/ 1026126 h 1130300"/>
              <a:gd name="connsiteX21" fmla="*/ 6089139 w 12192003"/>
              <a:gd name="connsiteY21" fmla="*/ 1130300 h 1130300"/>
              <a:gd name="connsiteX22" fmla="*/ 3804423 w 12192003"/>
              <a:gd name="connsiteY22" fmla="*/ 1130300 h 1130300"/>
              <a:gd name="connsiteX23" fmla="*/ 3809684 w 12192003"/>
              <a:gd name="connsiteY23" fmla="*/ 1026126 h 1130300"/>
              <a:gd name="connsiteX24" fmla="*/ 4946780 w 12192003"/>
              <a:gd name="connsiteY24" fmla="*/ 0 h 1130300"/>
              <a:gd name="connsiteX25" fmla="*/ 2654431 w 12192003"/>
              <a:gd name="connsiteY25" fmla="*/ 0 h 1130300"/>
              <a:gd name="connsiteX26" fmla="*/ 3791530 w 12192003"/>
              <a:gd name="connsiteY26" fmla="*/ 1026126 h 1130300"/>
              <a:gd name="connsiteX27" fmla="*/ 3796791 w 12192003"/>
              <a:gd name="connsiteY27" fmla="*/ 1130300 h 1130300"/>
              <a:gd name="connsiteX28" fmla="*/ 1512072 w 12192003"/>
              <a:gd name="connsiteY28" fmla="*/ 1130300 h 1130300"/>
              <a:gd name="connsiteX29" fmla="*/ 1517332 w 12192003"/>
              <a:gd name="connsiteY29" fmla="*/ 1026126 h 1130300"/>
              <a:gd name="connsiteX30" fmla="*/ 2654431 w 12192003"/>
              <a:gd name="connsiteY30" fmla="*/ 0 h 1130300"/>
              <a:gd name="connsiteX31" fmla="*/ 362080 w 12192003"/>
              <a:gd name="connsiteY31" fmla="*/ 0 h 1130300"/>
              <a:gd name="connsiteX32" fmla="*/ 1499179 w 12192003"/>
              <a:gd name="connsiteY32" fmla="*/ 1026126 h 1130300"/>
              <a:gd name="connsiteX33" fmla="*/ 1504439 w 12192003"/>
              <a:gd name="connsiteY33" fmla="*/ 1130300 h 1130300"/>
              <a:gd name="connsiteX34" fmla="*/ 0 w 12192003"/>
              <a:gd name="connsiteY34" fmla="*/ 1130300 h 1130300"/>
              <a:gd name="connsiteX35" fmla="*/ 0 w 12192003"/>
              <a:gd name="connsiteY35" fmla="*/ 59507 h 1130300"/>
              <a:gd name="connsiteX36" fmla="*/ 22187 w 12192003"/>
              <a:gd name="connsiteY36" fmla="*/ 51387 h 1130300"/>
              <a:gd name="connsiteX37" fmla="*/ 362080 w 12192003"/>
              <a:gd name="connsiteY37" fmla="*/ 0 h 113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192003" h="1130300">
                <a:moveTo>
                  <a:pt x="11823828" y="0"/>
                </a:moveTo>
                <a:cubicBezTo>
                  <a:pt x="11942189" y="0"/>
                  <a:pt x="12056349" y="17991"/>
                  <a:pt x="12163721" y="51387"/>
                </a:cubicBezTo>
                <a:lnTo>
                  <a:pt x="12192003" y="61738"/>
                </a:lnTo>
                <a:lnTo>
                  <a:pt x="12192003" y="1130300"/>
                </a:lnTo>
                <a:lnTo>
                  <a:pt x="10681469" y="1130300"/>
                </a:lnTo>
                <a:lnTo>
                  <a:pt x="10686729" y="1026126"/>
                </a:lnTo>
                <a:cubicBezTo>
                  <a:pt x="10745262" y="449767"/>
                  <a:pt x="11232021" y="0"/>
                  <a:pt x="11823828" y="0"/>
                </a:cubicBezTo>
                <a:close/>
                <a:moveTo>
                  <a:pt x="9531478" y="0"/>
                </a:moveTo>
                <a:cubicBezTo>
                  <a:pt x="10123285" y="0"/>
                  <a:pt x="10610044" y="449767"/>
                  <a:pt x="10668577" y="1026126"/>
                </a:cubicBezTo>
                <a:lnTo>
                  <a:pt x="10673837" y="1130300"/>
                </a:lnTo>
                <a:lnTo>
                  <a:pt x="8389119" y="1130300"/>
                </a:lnTo>
                <a:lnTo>
                  <a:pt x="8394379" y="1026126"/>
                </a:lnTo>
                <a:cubicBezTo>
                  <a:pt x="8452912" y="449767"/>
                  <a:pt x="8939671" y="0"/>
                  <a:pt x="9531478" y="0"/>
                </a:cubicBezTo>
                <a:close/>
                <a:moveTo>
                  <a:pt x="7239129" y="0"/>
                </a:moveTo>
                <a:cubicBezTo>
                  <a:pt x="7830936" y="0"/>
                  <a:pt x="8317694" y="449767"/>
                  <a:pt x="8376227" y="1026126"/>
                </a:cubicBezTo>
                <a:lnTo>
                  <a:pt x="8381487" y="1130300"/>
                </a:lnTo>
                <a:lnTo>
                  <a:pt x="6096769" y="1130300"/>
                </a:lnTo>
                <a:lnTo>
                  <a:pt x="6102029" y="1026126"/>
                </a:lnTo>
                <a:cubicBezTo>
                  <a:pt x="6160563" y="449767"/>
                  <a:pt x="6647322" y="0"/>
                  <a:pt x="7239129" y="0"/>
                </a:cubicBezTo>
                <a:close/>
                <a:moveTo>
                  <a:pt x="4946780" y="0"/>
                </a:moveTo>
                <a:cubicBezTo>
                  <a:pt x="5538587" y="0"/>
                  <a:pt x="6025345" y="449767"/>
                  <a:pt x="6083878" y="1026126"/>
                </a:cubicBezTo>
                <a:lnTo>
                  <a:pt x="6089139" y="1130300"/>
                </a:lnTo>
                <a:lnTo>
                  <a:pt x="3804423" y="1130300"/>
                </a:lnTo>
                <a:lnTo>
                  <a:pt x="3809684" y="1026126"/>
                </a:lnTo>
                <a:cubicBezTo>
                  <a:pt x="3868216" y="449767"/>
                  <a:pt x="4354972" y="0"/>
                  <a:pt x="4946780" y="0"/>
                </a:cubicBezTo>
                <a:close/>
                <a:moveTo>
                  <a:pt x="2654431" y="0"/>
                </a:moveTo>
                <a:cubicBezTo>
                  <a:pt x="3246238" y="0"/>
                  <a:pt x="3732997" y="449767"/>
                  <a:pt x="3791530" y="1026126"/>
                </a:cubicBezTo>
                <a:lnTo>
                  <a:pt x="3796791" y="1130300"/>
                </a:lnTo>
                <a:lnTo>
                  <a:pt x="1512072" y="1130300"/>
                </a:lnTo>
                <a:lnTo>
                  <a:pt x="1517332" y="1026126"/>
                </a:lnTo>
                <a:cubicBezTo>
                  <a:pt x="1575865" y="449767"/>
                  <a:pt x="2062624" y="0"/>
                  <a:pt x="2654431" y="0"/>
                </a:cubicBezTo>
                <a:close/>
                <a:moveTo>
                  <a:pt x="362080" y="0"/>
                </a:moveTo>
                <a:cubicBezTo>
                  <a:pt x="953887" y="0"/>
                  <a:pt x="1440646" y="449767"/>
                  <a:pt x="1499179" y="1026126"/>
                </a:cubicBezTo>
                <a:lnTo>
                  <a:pt x="1504439" y="1130300"/>
                </a:lnTo>
                <a:lnTo>
                  <a:pt x="0" y="1130300"/>
                </a:lnTo>
                <a:lnTo>
                  <a:pt x="0" y="59507"/>
                </a:lnTo>
                <a:lnTo>
                  <a:pt x="22187" y="51387"/>
                </a:lnTo>
                <a:cubicBezTo>
                  <a:pt x="129559" y="17991"/>
                  <a:pt x="243719" y="0"/>
                  <a:pt x="362080" y="0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70972619-C968-1257-58C9-0DC661642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24189"/>
            <a:ext cx="1503729" cy="1133811"/>
          </a:xfrm>
          <a:custGeom>
            <a:avLst/>
            <a:gdLst>
              <a:gd name="connsiteX0" fmla="*/ 367995 w 1503729"/>
              <a:gd name="connsiteY0" fmla="*/ 19 h 1133811"/>
              <a:gd name="connsiteX1" fmla="*/ 1481576 w 1503729"/>
              <a:gd name="connsiteY1" fmla="*/ 913359 h 1133811"/>
              <a:gd name="connsiteX2" fmla="*/ 1503729 w 1503729"/>
              <a:gd name="connsiteY2" fmla="*/ 1133811 h 1133811"/>
              <a:gd name="connsiteX3" fmla="*/ 1371482 w 1503729"/>
              <a:gd name="connsiteY3" fmla="*/ 1133811 h 1133811"/>
              <a:gd name="connsiteX4" fmla="*/ 1275407 w 1503729"/>
              <a:gd name="connsiteY4" fmla="*/ 1118667 h 1133811"/>
              <a:gd name="connsiteX5" fmla="*/ 367995 w 1503729"/>
              <a:gd name="connsiteY5" fmla="*/ 19 h 1133811"/>
              <a:gd name="connsiteX6" fmla="*/ 367996 w 1503729"/>
              <a:gd name="connsiteY6" fmla="*/ 0 h 1133811"/>
              <a:gd name="connsiteX7" fmla="*/ 33218 w 1503729"/>
              <a:gd name="connsiteY7" fmla="*/ 808204 h 1133811"/>
              <a:gd name="connsiteX8" fmla="*/ 0 w 1503729"/>
              <a:gd name="connsiteY8" fmla="*/ 838393 h 1133811"/>
              <a:gd name="connsiteX9" fmla="*/ 0 w 1503729"/>
              <a:gd name="connsiteY9" fmla="*/ 61671 h 1133811"/>
              <a:gd name="connsiteX10" fmla="*/ 28102 w 1503729"/>
              <a:gd name="connsiteY10" fmla="*/ 51386 h 1133811"/>
              <a:gd name="connsiteX11" fmla="*/ 367996 w 1503729"/>
              <a:gd name="connsiteY11" fmla="*/ 0 h 113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03729" h="1133811">
                <a:moveTo>
                  <a:pt x="367995" y="19"/>
                </a:moveTo>
                <a:cubicBezTo>
                  <a:pt x="917788" y="3008"/>
                  <a:pt x="1375686" y="394157"/>
                  <a:pt x="1481576" y="913359"/>
                </a:cubicBezTo>
                <a:lnTo>
                  <a:pt x="1503729" y="1133811"/>
                </a:lnTo>
                <a:lnTo>
                  <a:pt x="1371482" y="1133811"/>
                </a:lnTo>
                <a:lnTo>
                  <a:pt x="1275407" y="1118667"/>
                </a:lnTo>
                <a:cubicBezTo>
                  <a:pt x="757177" y="1010082"/>
                  <a:pt x="368000" y="550498"/>
                  <a:pt x="367995" y="19"/>
                </a:cubicBezTo>
                <a:close/>
                <a:moveTo>
                  <a:pt x="367996" y="0"/>
                </a:moveTo>
                <a:cubicBezTo>
                  <a:pt x="367996" y="315623"/>
                  <a:pt x="240061" y="601366"/>
                  <a:pt x="33218" y="808204"/>
                </a:cubicBezTo>
                <a:lnTo>
                  <a:pt x="0" y="838393"/>
                </a:lnTo>
                <a:lnTo>
                  <a:pt x="0" y="61671"/>
                </a:lnTo>
                <a:lnTo>
                  <a:pt x="28102" y="51386"/>
                </a:lnTo>
                <a:cubicBezTo>
                  <a:pt x="135475" y="17991"/>
                  <a:pt x="249634" y="0"/>
                  <a:pt x="36799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0A4A3873-48BC-94DF-6006-FC7F81660A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01353" y="0"/>
            <a:ext cx="3790647" cy="1143002"/>
          </a:xfrm>
          <a:custGeom>
            <a:avLst/>
            <a:gdLst>
              <a:gd name="connsiteX0" fmla="*/ 3790647 w 3790647"/>
              <a:gd name="connsiteY0" fmla="*/ 304585 h 1143002"/>
              <a:gd name="connsiteX1" fmla="*/ 3790647 w 3790647"/>
              <a:gd name="connsiteY1" fmla="*/ 1081329 h 1143002"/>
              <a:gd name="connsiteX2" fmla="*/ 3762543 w 3790647"/>
              <a:gd name="connsiteY2" fmla="*/ 1091615 h 1143002"/>
              <a:gd name="connsiteX3" fmla="*/ 3422649 w 3790647"/>
              <a:gd name="connsiteY3" fmla="*/ 1143002 h 1143002"/>
              <a:gd name="connsiteX4" fmla="*/ 3757427 w 3790647"/>
              <a:gd name="connsiteY4" fmla="*/ 334777 h 1143002"/>
              <a:gd name="connsiteX5" fmla="*/ 2285997 w 3790647"/>
              <a:gd name="connsiteY5" fmla="*/ 17 h 1143002"/>
              <a:gd name="connsiteX6" fmla="*/ 3422650 w 3790647"/>
              <a:gd name="connsiteY6" fmla="*/ 1142983 h 1143002"/>
              <a:gd name="connsiteX7" fmla="*/ 2285997 w 3790647"/>
              <a:gd name="connsiteY7" fmla="*/ 17 h 1143002"/>
              <a:gd name="connsiteX8" fmla="*/ 0 w 3790647"/>
              <a:gd name="connsiteY8" fmla="*/ 17 h 1143002"/>
              <a:gd name="connsiteX9" fmla="*/ 1136650 w 3790647"/>
              <a:gd name="connsiteY9" fmla="*/ 1142983 h 1143002"/>
              <a:gd name="connsiteX10" fmla="*/ 0 w 3790647"/>
              <a:gd name="connsiteY10" fmla="*/ 17 h 1143002"/>
              <a:gd name="connsiteX11" fmla="*/ 2279650 w 3790647"/>
              <a:gd name="connsiteY11" fmla="*/ 0 h 1143002"/>
              <a:gd name="connsiteX12" fmla="*/ 1136650 w 3790647"/>
              <a:gd name="connsiteY12" fmla="*/ 1143002 h 1143002"/>
              <a:gd name="connsiteX13" fmla="*/ 2279650 w 3790647"/>
              <a:gd name="connsiteY13" fmla="*/ 0 h 114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90647" h="1143002">
                <a:moveTo>
                  <a:pt x="3790647" y="304585"/>
                </a:moveTo>
                <a:lnTo>
                  <a:pt x="3790647" y="1081329"/>
                </a:lnTo>
                <a:lnTo>
                  <a:pt x="3762543" y="1091615"/>
                </a:lnTo>
                <a:cubicBezTo>
                  <a:pt x="3655170" y="1125011"/>
                  <a:pt x="3541011" y="1143002"/>
                  <a:pt x="3422649" y="1143002"/>
                </a:cubicBezTo>
                <a:cubicBezTo>
                  <a:pt x="3422649" y="827371"/>
                  <a:pt x="3550584" y="541620"/>
                  <a:pt x="3757427" y="334777"/>
                </a:cubicBezTo>
                <a:close/>
                <a:moveTo>
                  <a:pt x="2285997" y="17"/>
                </a:moveTo>
                <a:cubicBezTo>
                  <a:pt x="2914332" y="3435"/>
                  <a:pt x="3422644" y="513848"/>
                  <a:pt x="3422650" y="1142983"/>
                </a:cubicBezTo>
                <a:cubicBezTo>
                  <a:pt x="2794315" y="1139567"/>
                  <a:pt x="2286006" y="629153"/>
                  <a:pt x="2285997" y="17"/>
                </a:cubicBezTo>
                <a:close/>
                <a:moveTo>
                  <a:pt x="0" y="17"/>
                </a:moveTo>
                <a:cubicBezTo>
                  <a:pt x="628334" y="3435"/>
                  <a:pt x="1136644" y="513848"/>
                  <a:pt x="1136650" y="1142983"/>
                </a:cubicBezTo>
                <a:cubicBezTo>
                  <a:pt x="508316" y="1139567"/>
                  <a:pt x="9" y="629153"/>
                  <a:pt x="0" y="17"/>
                </a:cubicBezTo>
                <a:close/>
                <a:moveTo>
                  <a:pt x="2279650" y="0"/>
                </a:moveTo>
                <a:cubicBezTo>
                  <a:pt x="2279650" y="631263"/>
                  <a:pt x="1767910" y="1143002"/>
                  <a:pt x="1136650" y="1143002"/>
                </a:cubicBezTo>
                <a:cubicBezTo>
                  <a:pt x="1136650" y="511739"/>
                  <a:pt x="1648390" y="0"/>
                  <a:pt x="227965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0" name="Graphic 119">
            <a:extLst>
              <a:ext uri="{FF2B5EF4-FFF2-40B4-BE49-F238E27FC236}">
                <a16:creationId xmlns:a16="http://schemas.microsoft.com/office/drawing/2014/main" id="{9C01A786-0C1A-6C4A-1466-1AE233D142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 b="83148"/>
          <a:stretch/>
        </p:blipFill>
        <p:spPr>
          <a:xfrm>
            <a:off x="8401354" y="12700"/>
            <a:ext cx="3790646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1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 b="1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AutoNum type="arabicPeriod"/>
              <a:defRPr sz="2000"/>
            </a:lvl1pPr>
            <a:lvl2pPr marL="914400" indent="-457200">
              <a:buSzPct val="100000"/>
              <a:buFont typeface="+mj-lt"/>
              <a:buAutoNum type="alphaLcPeriod"/>
              <a:defRPr sz="2000"/>
            </a:lvl2pPr>
            <a:lvl3pPr marL="1371600" indent="-457200">
              <a:buSzPct val="100000"/>
              <a:buFont typeface="+mj-lt"/>
              <a:buAutoNum type="romanLcPeriod"/>
              <a:defRPr sz="1800"/>
            </a:lvl3pPr>
            <a:lvl4pPr marL="1828800" indent="-457200">
              <a:buSzPct val="100000"/>
              <a:buFont typeface="+mj-lt"/>
              <a:buAutoNum type="arabicParenR"/>
              <a:defRPr sz="1800"/>
            </a:lvl4pPr>
            <a:lvl5pPr marL="2286000" indent="-457200">
              <a:buSzPct val="100000"/>
              <a:buFont typeface="+mj-lt"/>
              <a:buAutoNum type="alphaLcParenR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07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itle 123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F917E-922A-1054-6306-D37C378F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Samad, Guandong, and Tyler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D50B0-02F8-A1E6-8A67-C0B7034A47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/>
          <a:p>
            <a:r>
              <a:rPr lang="en-US" dirty="0"/>
              <a:t>Brain Stimulator Progress Update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8161A87-95F0-1243-3F19-62B7C444C80A}"/>
                  </a:ext>
                </a:extLst>
              </p14:cNvPr>
              <p14:cNvContentPartPr/>
              <p14:nvPr/>
            </p14:nvContentPartPr>
            <p14:xfrm>
              <a:off x="11566767" y="1367215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8161A87-95F0-1243-3F19-62B7C444C8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58127" y="1358215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699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6923F-2B95-8D5A-8578-DBC0FC0D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Problem Description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FF7AA9-7C16-A939-67C8-DF700FEF7D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076688" cy="44799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Make a device that can generate waveforms of precise frequency and current to stimulate deep parts of the brain using electrodes.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A6BC-F3A8-6DDC-F1F8-6348F54E8B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634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EB587-29DC-E824-8689-36BC048BE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Events from Last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F6BA8-0572-5BBA-D1BD-8EEF0B5F33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076688" cy="4479925"/>
          </a:xfrm>
        </p:spPr>
        <p:txBody>
          <a:bodyPr/>
          <a:lstStyle/>
          <a:p>
            <a:r>
              <a:rPr lang="en-US" dirty="0"/>
              <a:t>Got flyback and iso-</a:t>
            </a:r>
            <a:r>
              <a:rPr lang="en-US" dirty="0" err="1"/>
              <a:t>adc</a:t>
            </a:r>
            <a:r>
              <a:rPr lang="en-US" dirty="0"/>
              <a:t> breakout boards</a:t>
            </a:r>
          </a:p>
          <a:p>
            <a:r>
              <a:rPr lang="en-US" dirty="0"/>
              <a:t>Made final amplifier stages</a:t>
            </a:r>
          </a:p>
          <a:p>
            <a:r>
              <a:rPr lang="en-US" dirty="0"/>
              <a:t>Made voltage controlled current source circuitry</a:t>
            </a:r>
          </a:p>
          <a:p>
            <a:r>
              <a:rPr lang="en-US" dirty="0"/>
              <a:t>Did first pass final board placement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E045F-0937-10B0-D71D-D22F80DC65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08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B902B-18B1-0E6F-AC82-6E7526AB4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 Updates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385E9-846C-2E2A-9424-FADD935719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8" name="Content Placeholder 7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CBF501DD-2679-27C6-0E18-C2D18F0BE1E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095061" y="1267153"/>
            <a:ext cx="6762149" cy="5406269"/>
          </a:xfrm>
        </p:spPr>
      </p:pic>
    </p:spTree>
    <p:extLst>
      <p:ext uri="{BB962C8B-B14F-4D97-AF65-F5344CB8AC3E}">
        <p14:creationId xmlns:p14="http://schemas.microsoft.com/office/powerpoint/2010/main" val="776350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D40E9-FFC4-E95C-0DA7-8F7E2751C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FCCBF-5C4E-16D8-0ABF-C53343580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 Updates Continued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4C7EB-6CAA-A63A-88C2-5704BA844A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794619-DE3B-EFD3-07EF-2EBF36516BF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41086" y="1349664"/>
            <a:ext cx="6421317" cy="5081033"/>
          </a:xfrm>
        </p:spPr>
      </p:pic>
      <p:pic>
        <p:nvPicPr>
          <p:cNvPr id="10" name="Picture 9" descr="A diagram of a computer&#10;&#10;AI-generated content may be incorrect.">
            <a:extLst>
              <a:ext uri="{FF2B5EF4-FFF2-40B4-BE49-F238E27FC236}">
                <a16:creationId xmlns:a16="http://schemas.microsoft.com/office/drawing/2014/main" id="{AECD1315-0872-339B-F0A9-A15B9001B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804" y="1563203"/>
            <a:ext cx="4515241" cy="306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624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5C05D-10DF-18FA-72DF-54A71C540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Kill Switch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CF2EE-B903-C5DC-A59D-7A63AFA7594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692661" cy="4479925"/>
          </a:xfrm>
        </p:spPr>
        <p:txBody>
          <a:bodyPr/>
          <a:lstStyle/>
          <a:p>
            <a:r>
              <a:rPr lang="en-US" dirty="0"/>
              <a:t>Cut off 12V enable because otherwise the switching regulators will be on and incur losses</a:t>
            </a:r>
          </a:p>
          <a:p>
            <a:r>
              <a:rPr lang="en-US" dirty="0"/>
              <a:t>Comes at the price of powering down MCU</a:t>
            </a:r>
          </a:p>
          <a:p>
            <a:r>
              <a:rPr lang="en-US" dirty="0"/>
              <a:t>Soft kill is currently done through software. Ideally will add button but need to find space.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258E1-7CD9-2787-6FE4-23E1793794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951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5DCEA-2D78-6D09-B40C-B7A2F86B3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from Audio Jack to BNC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4D19F-2A22-7B06-E482-12ECAF8CDB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410028" cy="4479925"/>
          </a:xfrm>
        </p:spPr>
        <p:txBody>
          <a:bodyPr/>
          <a:lstStyle/>
          <a:p>
            <a:r>
              <a:rPr lang="en-US" dirty="0"/>
              <a:t>More robust</a:t>
            </a:r>
          </a:p>
          <a:p>
            <a:r>
              <a:rPr lang="en-US" dirty="0"/>
              <a:t>Downside is size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24DA2-F5DF-4BC2-88B0-0AB4E6FF68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716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3B480-5176-1B5F-792F-379FB3DAA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A1471-B840-BB5B-42B1-508B4335C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 Updates Continued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70D1A-3B5B-6253-FD9A-6AA3497980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875BE5-AE9F-F7F4-811C-8031D90B8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955" y="1275978"/>
            <a:ext cx="5677392" cy="516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214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EFA90-96AD-4970-8C36-76A89555F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Source Simulation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CD5AA-291B-3245-DD82-FDEF2CF081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0" name="Content Placeholder 9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4C404127-3A03-406B-AED9-4F80AFA0CC0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79770" y="1194081"/>
            <a:ext cx="10438165" cy="5311697"/>
          </a:xfrm>
        </p:spPr>
      </p:pic>
    </p:spTree>
    <p:extLst>
      <p:ext uri="{BB962C8B-B14F-4D97-AF65-F5344CB8AC3E}">
        <p14:creationId xmlns:p14="http://schemas.microsoft.com/office/powerpoint/2010/main" val="643244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45DD4-5A49-40D0-0F88-D49903E6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D97E7-B81F-5D4D-C4D3-741B5085629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829821" cy="4479925"/>
          </a:xfrm>
        </p:spPr>
        <p:txBody>
          <a:bodyPr/>
          <a:lstStyle/>
          <a:p>
            <a:r>
              <a:rPr lang="en-US" dirty="0"/>
              <a:t>Use a midpoint offset to turn 0-5 V sine wave into a -5-5 mA current source</a:t>
            </a:r>
          </a:p>
          <a:p>
            <a:r>
              <a:rPr lang="en-US" dirty="0"/>
              <a:t>Tight tolerance resistor which has the voltage across it controlled such that current is known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59A58-35AC-83EB-E018-A31EB46402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334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A1DF4-D540-6470-A839-25D7C855E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Controlled Attenuator Simulation</a:t>
            </a:r>
          </a:p>
        </p:txBody>
      </p:sp>
      <p:pic>
        <p:nvPicPr>
          <p:cNvPr id="6" name="Content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F1E2247-5C25-450A-A96D-0C99EC08230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84137" y="1182112"/>
            <a:ext cx="11236135" cy="564452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A1033-8131-CFC9-0049-E6288AA74D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074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187EC-2BF1-19FE-DD2B-F621F5BA6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Controlled Attenuator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BAB09-3855-BBFF-47B1-B4531A29DC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479024" cy="4479925"/>
          </a:xfrm>
        </p:spPr>
        <p:txBody>
          <a:bodyPr/>
          <a:lstStyle/>
          <a:p>
            <a:r>
              <a:rPr lang="en-US" dirty="0"/>
              <a:t>After initial amplification the sine wave will be max 0-5V constant sine wave, so need amplitude control</a:t>
            </a:r>
          </a:p>
          <a:p>
            <a:r>
              <a:rPr lang="en-US" dirty="0"/>
              <a:t>Step down instead of up. Apply a negative voltage to the gate of a JFET to control linear region resistance of the device</a:t>
            </a:r>
          </a:p>
          <a:p>
            <a:r>
              <a:rPr lang="en-US" dirty="0"/>
              <a:t>Use JFETs in voltage divider to step down voltage swing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F10AA-BAF6-9455-8BE5-C1A9E75B92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110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6C781-9AB5-68C2-CDF0-AE9B5AB89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E22CC-8BFB-77D7-6632-D38D3330F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 Updates Continued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A9A26-51A7-06E7-448D-BD42430583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Content Placeholder 5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C4DA20E1-AE65-E71A-6C6D-A4EA6193C00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445732" y="1518961"/>
            <a:ext cx="6556375" cy="4324209"/>
          </a:xfrm>
        </p:spPr>
      </p:pic>
    </p:spTree>
    <p:extLst>
      <p:ext uri="{BB962C8B-B14F-4D97-AF65-F5344CB8AC3E}">
        <p14:creationId xmlns:p14="http://schemas.microsoft.com/office/powerpoint/2010/main" val="879723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B7C16-1994-6014-3C73-9D30B3A67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E870-6971-3B7A-DDF8-076EBC42A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Schematic Updates Continued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68D7D0-E06D-4EE4-31DF-8F2E0ADFD2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Content Placeholder 5" descr="A diagram of a circuit&#10;&#10;AI-generated content may be incorrect.">
            <a:extLst>
              <a:ext uri="{FF2B5EF4-FFF2-40B4-BE49-F238E27FC236}">
                <a16:creationId xmlns:a16="http://schemas.microsoft.com/office/drawing/2014/main" id="{C03BD0EC-224E-9607-8969-4C64EEC8B06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678487" y="1923086"/>
            <a:ext cx="6556375" cy="3732090"/>
          </a:xfrm>
        </p:spPr>
      </p:pic>
    </p:spTree>
    <p:extLst>
      <p:ext uri="{BB962C8B-B14F-4D97-AF65-F5344CB8AC3E}">
        <p14:creationId xmlns:p14="http://schemas.microsoft.com/office/powerpoint/2010/main" val="2484167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C8AC3-807C-62C8-5224-1854B81EE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C6CA4-C0D1-4555-D2B3-7FA045915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>
            <a:normAutofit/>
          </a:bodyPr>
          <a:lstStyle/>
          <a:p>
            <a:r>
              <a:rPr lang="en-US" dirty="0"/>
              <a:t>ADC Breakout board Layout</a:t>
            </a:r>
          </a:p>
        </p:txBody>
      </p:sp>
      <p:pic>
        <p:nvPicPr>
          <p:cNvPr id="6" name="Content Placeholder 5" descr="A green circuit board with many small chips&#10;&#10;AI-generated content may be incorrect.">
            <a:extLst>
              <a:ext uri="{FF2B5EF4-FFF2-40B4-BE49-F238E27FC236}">
                <a16:creationId xmlns:a16="http://schemas.microsoft.com/office/drawing/2014/main" id="{8B9390A1-5373-A9D7-F219-6D8DBAED310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992562" y="1365126"/>
            <a:ext cx="4206875" cy="412774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6952B-23AF-5ED9-5150-234D2C7693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67B645E-C5E5-4727-B977-D372A0AA71D9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381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7405C-BC79-355B-C060-676BE50F3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Assembled ADC and DC-DC Breakout Board</a:t>
            </a:r>
          </a:p>
        </p:txBody>
      </p:sp>
      <p:pic>
        <p:nvPicPr>
          <p:cNvPr id="12" name="Content Placeholder 11" descr="A green circuit board with a black background&#10;&#10;AI-generated content may be incorrect.">
            <a:extLst>
              <a:ext uri="{FF2B5EF4-FFF2-40B4-BE49-F238E27FC236}">
                <a16:creationId xmlns:a16="http://schemas.microsoft.com/office/drawing/2014/main" id="{7E09654F-6FAD-140D-1191-2CFABD7A831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rcRect l="19609" r="19637"/>
          <a:stretch>
            <a:fillRect/>
          </a:stretch>
        </p:blipFill>
        <p:spPr>
          <a:xfrm rot="5400000">
            <a:off x="3075430" y="1618279"/>
            <a:ext cx="3817581" cy="471276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613A74-A69A-C966-3F81-A09544111C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416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E0533-C180-CB9E-E9D7-40F5263C2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47439-8D2C-5D74-B3D1-54718CB7AD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04BF2B-D074-DA41-9B75-A916E0930D2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66056" y="4943882"/>
            <a:ext cx="5650992" cy="414866"/>
          </a:xfrm>
        </p:spPr>
        <p:txBody>
          <a:bodyPr/>
          <a:lstStyle/>
          <a:p>
            <a:r>
              <a:rPr lang="en-US" dirty="0"/>
              <a:t>Possibly no clock signal, needs more testing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4C8414-2C9D-4525-3E81-48AC1453A1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57FE77E-04D2-0673-AAA5-63861F6DE6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393"/>
          <a:stretch>
            <a:fillRect/>
          </a:stretch>
        </p:blipFill>
        <p:spPr>
          <a:xfrm>
            <a:off x="208913" y="1494494"/>
            <a:ext cx="4083688" cy="4522258"/>
          </a:xfrm>
          <a:prstGeom prst="rect">
            <a:avLst/>
          </a:prstGeom>
        </p:spPr>
      </p:pic>
      <p:pic>
        <p:nvPicPr>
          <p:cNvPr id="14" name="Content Placeholder 1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8F45C2A-A545-A393-A57E-EC2EA8697A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3042"/>
          <a:stretch>
            <a:fillRect/>
          </a:stretch>
        </p:blipFill>
        <p:spPr>
          <a:xfrm>
            <a:off x="4456854" y="2235851"/>
            <a:ext cx="5432213" cy="144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577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D1845-E26C-6985-878D-B130F8D09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Flyback Converter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E3B09-4F85-4E47-A0CD-7D14778130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479024" cy="4479925"/>
          </a:xfrm>
        </p:spPr>
        <p:txBody>
          <a:bodyPr/>
          <a:lstStyle/>
          <a:p>
            <a:r>
              <a:rPr lang="en-US" dirty="0"/>
              <a:t>Get +/-30 V rails</a:t>
            </a:r>
          </a:p>
          <a:p>
            <a:r>
              <a:rPr lang="en-US" dirty="0"/>
              <a:t>Incur some losses from two switching converters, almost unavoidable</a:t>
            </a:r>
          </a:p>
          <a:p>
            <a:r>
              <a:rPr lang="en-US" dirty="0"/>
              <a:t>Feed into final amplifier stage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A9979-A4D0-259B-FF77-0AFABBF2DA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370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06DDE-99E0-0E96-AFB6-05ACE51E9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Flyback Breakout</a:t>
            </a:r>
          </a:p>
        </p:txBody>
      </p:sp>
      <p:pic>
        <p:nvPicPr>
          <p:cNvPr id="6" name="Content Placeholder 5" descr="A green circuit board with black and grey objects&#10;&#10;AI-generated content may be incorrect.">
            <a:extLst>
              <a:ext uri="{FF2B5EF4-FFF2-40B4-BE49-F238E27FC236}">
                <a16:creationId xmlns:a16="http://schemas.microsoft.com/office/drawing/2014/main" id="{0128C25E-EBF4-F7AB-E5B7-2A6A6728C34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158942" y="1605015"/>
            <a:ext cx="7346662" cy="449423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D448A-253F-94C7-461E-1633F74C49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761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1EF5E-9D8E-D445-9FF0-0322DDB9B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Board Placement</a:t>
            </a:r>
          </a:p>
        </p:txBody>
      </p:sp>
      <p:pic>
        <p:nvPicPr>
          <p:cNvPr id="6" name="Content Placeholder 5" descr="A computer screen shot of a computer chip&#10;&#10;AI-generated content may be incorrect.">
            <a:extLst>
              <a:ext uri="{FF2B5EF4-FFF2-40B4-BE49-F238E27FC236}">
                <a16:creationId xmlns:a16="http://schemas.microsoft.com/office/drawing/2014/main" id="{CE7641A6-F493-D1A5-2626-BD60E10E6F7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475615" y="439420"/>
            <a:ext cx="5285585" cy="622800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18861-D9D3-3CBC-9C7D-E2BBE9AF7C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8" name="Picture 7" descr="A green circuit board with many small chips&#10;&#10;AI-generated content may be incorrect.">
            <a:extLst>
              <a:ext uri="{FF2B5EF4-FFF2-40B4-BE49-F238E27FC236}">
                <a16:creationId xmlns:a16="http://schemas.microsoft.com/office/drawing/2014/main" id="{AB3E22B2-7F34-8C5B-00E5-D0DA2028D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66" y="1924396"/>
            <a:ext cx="5000121" cy="430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3914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587B2-7474-6181-832E-132C3E27C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Components</a:t>
            </a:r>
          </a:p>
        </p:txBody>
      </p:sp>
      <p:pic>
        <p:nvPicPr>
          <p:cNvPr id="6" name="Content Placeholder 5" descr="A blue circuit board with white and gold components&#10;&#10;AI-generated content may be incorrect.">
            <a:extLst>
              <a:ext uri="{FF2B5EF4-FFF2-40B4-BE49-F238E27FC236}">
                <a16:creationId xmlns:a16="http://schemas.microsoft.com/office/drawing/2014/main" id="{DE182F29-B81A-D733-93D8-4DB34A0C3E7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80396" y="1666702"/>
            <a:ext cx="5087189" cy="361840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5A3FA-50E2-BDAB-F48B-35A7583690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8" name="Picture 7" descr="A small black and white circuit board&#10;&#10;AI-generated content may be incorrect.">
            <a:extLst>
              <a:ext uri="{FF2B5EF4-FFF2-40B4-BE49-F238E27FC236}">
                <a16:creationId xmlns:a16="http://schemas.microsoft.com/office/drawing/2014/main" id="{1E2FED39-8D33-C62D-57ED-D04F6D9C6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593" y="1750466"/>
            <a:ext cx="4789516" cy="384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585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952B-DB24-BDD9-7748-20F9423AB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9386"/>
            <a:ext cx="10479024" cy="557784"/>
          </a:xfrm>
        </p:spPr>
        <p:txBody>
          <a:bodyPr/>
          <a:lstStyle/>
          <a:p>
            <a:r>
              <a:rPr lang="en-US" dirty="0"/>
              <a:t>Programming interface for the ADC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D04729-9A3C-FA02-EEC9-97CC09B2041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093086" y="4410849"/>
            <a:ext cx="2636897" cy="236731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F2621-5064-54E3-00E0-804CA2FA99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CEBC9AB-2969-CB51-B53E-5984AF0E8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794" y="506902"/>
            <a:ext cx="4136138" cy="3880497"/>
          </a:xfrm>
          <a:prstGeom prst="rect">
            <a:avLst/>
          </a:prstGeom>
        </p:spPr>
      </p:pic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6200DAF-5339-9C51-E4D4-F73C485A8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43" y="530352"/>
            <a:ext cx="3897908" cy="4479925"/>
          </a:xfrm>
          <a:prstGeom prst="rect">
            <a:avLst/>
          </a:prstGeom>
        </p:spPr>
      </p:pic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207E472-4696-3CAD-D10C-38AA0DE8A5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769" y="530352"/>
            <a:ext cx="4423495" cy="537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35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760E7-D27A-1C0A-6CD5-364C193F6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9354B-C796-1926-1CEE-088B8D9B86D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Current Expenses :</a:t>
            </a:r>
          </a:p>
          <a:p>
            <a:r>
              <a:rPr lang="en-US" dirty="0"/>
              <a:t>DDS Test Board: $33</a:t>
            </a:r>
          </a:p>
          <a:p>
            <a:r>
              <a:rPr lang="en-US" dirty="0"/>
              <a:t>Component Order: $140</a:t>
            </a:r>
          </a:p>
          <a:p>
            <a:r>
              <a:rPr lang="en-US" dirty="0"/>
              <a:t>Battery Order: $44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Total</a:t>
            </a:r>
            <a:r>
              <a:rPr lang="en-US"/>
              <a:t>: $217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C9821-24B7-EE51-078D-0B7963AC20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0953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F160B-AF27-B7B9-795A-6950EC477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F76C4-2D7C-3DF9-F61F-30FCC2A901E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076688" cy="4479925"/>
          </a:xfrm>
        </p:spPr>
        <p:txBody>
          <a:bodyPr/>
          <a:lstStyle/>
          <a:p>
            <a:r>
              <a:rPr lang="en-US" dirty="0"/>
              <a:t>Choosing Connector</a:t>
            </a:r>
          </a:p>
          <a:p>
            <a:r>
              <a:rPr lang="en-US" dirty="0"/>
              <a:t>Board sizing</a:t>
            </a:r>
          </a:p>
          <a:p>
            <a:r>
              <a:rPr lang="en-US" dirty="0"/>
              <a:t>Power supply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54A4F-408F-2AE8-E17D-8D70EF316C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4177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8EF87-E3BB-A226-DCCF-2D45CE9BE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Immediate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E9115-94A4-A2F8-8B11-947907F62B4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479024" cy="4479925"/>
          </a:xfrm>
        </p:spPr>
        <p:txBody>
          <a:bodyPr/>
          <a:lstStyle/>
          <a:p>
            <a:r>
              <a:rPr lang="en-US" dirty="0"/>
              <a:t>Get MCU pinout</a:t>
            </a:r>
          </a:p>
          <a:p>
            <a:r>
              <a:rPr lang="en-US" dirty="0"/>
              <a:t>Route board and order by Friday</a:t>
            </a:r>
          </a:p>
          <a:p>
            <a:r>
              <a:rPr lang="en-US" dirty="0"/>
              <a:t>Test subsections before board order</a:t>
            </a:r>
          </a:p>
          <a:p>
            <a:r>
              <a:rPr lang="en-US" dirty="0"/>
              <a:t>Get BOM together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C2303-290B-35FB-A4CD-104764401A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2171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CC25EE42-B3D5-AD1E-48BE-54CEFF2E3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Questions/Feedback</a:t>
            </a:r>
          </a:p>
        </p:txBody>
      </p:sp>
    </p:spTree>
    <p:extLst>
      <p:ext uri="{BB962C8B-B14F-4D97-AF65-F5344CB8AC3E}">
        <p14:creationId xmlns:p14="http://schemas.microsoft.com/office/powerpoint/2010/main" val="198843706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8837B91-4329-4308-94DA-BB811B5F3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B247F30-5811-40C0-99EC-CF53200590BE}">
  <ds:schemaRefs>
    <ds:schemaRef ds:uri="http://schemas.microsoft.com/office/2006/metadata/properties"/>
    <ds:schemaRef ds:uri="http://purl.org/dc/elements/1.1/"/>
    <ds:schemaRef ds:uri="230e9df3-be65-4c73-a93b-d1236ebd677e"/>
    <ds:schemaRef ds:uri="16c05727-aa75-4e4a-9b5f-8a80a1165891"/>
    <ds:schemaRef ds:uri="http://purl.org/dc/terms/"/>
    <ds:schemaRef ds:uri="http://schemas.microsoft.com/office/2006/documentManagement/types"/>
    <ds:schemaRef ds:uri="71af3243-3dd4-4a8d-8c0d-dd76da1f02a5"/>
    <ds:schemaRef ds:uri="http://schemas.microsoft.com/sharepoint/v3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Corporate colors presentation</Template>
  <TotalTime>411</TotalTime>
  <Words>359</Words>
  <Application>Microsoft Office PowerPoint</Application>
  <PresentationFormat>Widescreen</PresentationFormat>
  <Paragraphs>83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Light</vt:lpstr>
      <vt:lpstr>Arial</vt:lpstr>
      <vt:lpstr>Calibri</vt:lpstr>
      <vt:lpstr>Custom</vt:lpstr>
      <vt:lpstr>Samad, Guandong, and Tyler </vt:lpstr>
      <vt:lpstr>Problem Description</vt:lpstr>
      <vt:lpstr>Key Events from Last Week</vt:lpstr>
      <vt:lpstr>Schematic Updates</vt:lpstr>
      <vt:lpstr>Schematic Updates Continued</vt:lpstr>
      <vt:lpstr>Kill Switch</vt:lpstr>
      <vt:lpstr>Switch from Audio Jack to BNC</vt:lpstr>
      <vt:lpstr>Schematic Updates Continued</vt:lpstr>
      <vt:lpstr>Current Source Simulation</vt:lpstr>
      <vt:lpstr>Current Source</vt:lpstr>
      <vt:lpstr>Voltage Controlled Attenuator Simulation</vt:lpstr>
      <vt:lpstr>Voltage Controlled Attenuator</vt:lpstr>
      <vt:lpstr>Schematic Updates Continued</vt:lpstr>
      <vt:lpstr>Schematic Updates Continued</vt:lpstr>
      <vt:lpstr>ADC Breakout board Layout</vt:lpstr>
      <vt:lpstr>Assembled ADC and DC-DC Breakout Board</vt:lpstr>
      <vt:lpstr>ADC testing</vt:lpstr>
      <vt:lpstr>Flyback Converter</vt:lpstr>
      <vt:lpstr>Flyback Breakout</vt:lpstr>
      <vt:lpstr>Final Board Placement</vt:lpstr>
      <vt:lpstr>Other Components</vt:lpstr>
      <vt:lpstr>Programming interface for the ADC</vt:lpstr>
      <vt:lpstr>Budget</vt:lpstr>
      <vt:lpstr>Challenges so far</vt:lpstr>
      <vt:lpstr>Immediate Plan</vt:lpstr>
      <vt:lpstr>Questions/Feedback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White</dc:creator>
  <cp:lastModifiedBy>Samad Q</cp:lastModifiedBy>
  <cp:revision>37</cp:revision>
  <dcterms:created xsi:type="dcterms:W3CDTF">2025-09-17T17:10:44Z</dcterms:created>
  <dcterms:modified xsi:type="dcterms:W3CDTF">2025-11-12T18:23:14Z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