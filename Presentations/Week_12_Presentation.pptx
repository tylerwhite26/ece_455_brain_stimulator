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05" r:id="rId5"/>
    <p:sldId id="306" r:id="rId6"/>
    <p:sldId id="319" r:id="rId7"/>
    <p:sldId id="386" r:id="rId8"/>
    <p:sldId id="356" r:id="rId9"/>
    <p:sldId id="369" r:id="rId10"/>
    <p:sldId id="381" r:id="rId11"/>
    <p:sldId id="371" r:id="rId12"/>
    <p:sldId id="382" r:id="rId13"/>
    <p:sldId id="370" r:id="rId14"/>
    <p:sldId id="378" r:id="rId15"/>
    <p:sldId id="376" r:id="rId16"/>
    <p:sldId id="372" r:id="rId17"/>
    <p:sldId id="375" r:id="rId18"/>
    <p:sldId id="387" r:id="rId19"/>
    <p:sldId id="377" r:id="rId20"/>
    <p:sldId id="380" r:id="rId21"/>
    <p:sldId id="388" r:id="rId22"/>
    <p:sldId id="374" r:id="rId23"/>
    <p:sldId id="365" r:id="rId24"/>
    <p:sldId id="331" r:id="rId25"/>
    <p:sldId id="330" r:id="rId26"/>
    <p:sldId id="31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4" autoAdjust="0"/>
    <p:restoredTop sz="94682"/>
  </p:normalViewPr>
  <p:slideViewPr>
    <p:cSldViewPr snapToGrid="0">
      <p:cViewPr varScale="1">
        <p:scale>
          <a:sx n="70" d="100"/>
          <a:sy n="70" d="100"/>
        </p:scale>
        <p:origin x="672" y="5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7:3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11/19/2025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Samad, Guandong, and Tyler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/>
              <a:t>Brain Stimulator Progress Update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14:cNvPr>
              <p14:cNvContentPartPr/>
              <p14:nvPr/>
            </p14:nvContentPartPr>
            <p14:xfrm>
              <a:off x="11566767" y="136721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8127" y="135821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Make a device that can generate waveforms of precise frequency and current to stimulate deep parts of the brain using electrodes.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B587-29DC-E824-8689-36BC048B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F6BA8-0572-5BBA-D1BD-8EEF0B5F33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Got flyback and iso-</a:t>
            </a:r>
            <a:r>
              <a:rPr lang="en-US" dirty="0" err="1"/>
              <a:t>adc</a:t>
            </a:r>
            <a:r>
              <a:rPr lang="en-US" dirty="0"/>
              <a:t> breakout boards</a:t>
            </a:r>
          </a:p>
          <a:p>
            <a:r>
              <a:rPr lang="en-US" dirty="0"/>
              <a:t>Made final amplifier stages</a:t>
            </a:r>
          </a:p>
          <a:p>
            <a:r>
              <a:rPr lang="en-US" dirty="0"/>
              <a:t>Made voltage controlled current source circuitry</a:t>
            </a:r>
          </a:p>
          <a:p>
            <a:r>
              <a:rPr lang="en-US" dirty="0"/>
              <a:t>Did first pass final board placement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045F-0937-10B0-D71D-D22F80DC6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ACE6-F13E-F6C4-C93B-709AA55F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pic>
        <p:nvPicPr>
          <p:cNvPr id="6" name="Content Placeholder 5" descr="A diagram of a computer&#10;&#10;AI-generated content may be incorrect.">
            <a:extLst>
              <a:ext uri="{FF2B5EF4-FFF2-40B4-BE49-F238E27FC236}">
                <a16:creationId xmlns:a16="http://schemas.microsoft.com/office/drawing/2014/main" id="{3BDA46D7-4F67-43F8-737F-F000440CDC2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93935" y="1487978"/>
            <a:ext cx="8604130" cy="432693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A9810-D027-10B4-90B4-E079CD3639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83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902B-18B1-0E6F-AC82-6E7526AB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385E9-846C-2E2A-9424-FADD935719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Content Placeholder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F053564B-F63B-883E-90BD-5A015C86C46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84703" y="1212505"/>
            <a:ext cx="6959792" cy="5494573"/>
          </a:xfrm>
        </p:spPr>
      </p:pic>
    </p:spTree>
    <p:extLst>
      <p:ext uri="{BB962C8B-B14F-4D97-AF65-F5344CB8AC3E}">
        <p14:creationId xmlns:p14="http://schemas.microsoft.com/office/powerpoint/2010/main" val="776350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40E9-FFC4-E95C-0DA7-8F7E2751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CCBF-5C4E-16D8-0ABF-C5334358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4C7EB-6CAA-A63A-88C2-5704BA844A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794619-DE3B-EFD3-07EF-2EBF36516BF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41086" y="1349664"/>
            <a:ext cx="6421317" cy="5081033"/>
          </a:xfrm>
        </p:spPr>
      </p:pic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AECD1315-0872-339B-F0A9-A15B9001B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04" y="1563203"/>
            <a:ext cx="4515241" cy="30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2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C05D-10DF-18FA-72DF-54A71C54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Kill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CF2EE-B903-C5DC-A59D-7A63AFA759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692661" cy="4479925"/>
          </a:xfrm>
        </p:spPr>
        <p:txBody>
          <a:bodyPr/>
          <a:lstStyle/>
          <a:p>
            <a:r>
              <a:rPr lang="en-US" dirty="0"/>
              <a:t>Cut off 12V enable because otherwise the switching regulators will be on and incur losses</a:t>
            </a:r>
          </a:p>
          <a:p>
            <a:r>
              <a:rPr lang="en-US" dirty="0"/>
              <a:t>Comes at the price of powering down MCU</a:t>
            </a:r>
          </a:p>
          <a:p>
            <a:r>
              <a:rPr lang="en-US" dirty="0"/>
              <a:t>Soft kill is currently done through software. Ideally will add button but need to find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258E1-7CD9-2787-6FE4-23E179379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DCEA-2D78-6D09-B40C-B7A2F86B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from Audio Jack to BNC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4D19F-2A22-7B06-E482-12ECAF8CDB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10028" cy="4479925"/>
          </a:xfrm>
        </p:spPr>
        <p:txBody>
          <a:bodyPr/>
          <a:lstStyle/>
          <a:p>
            <a:r>
              <a:rPr lang="en-US" dirty="0"/>
              <a:t>More robust</a:t>
            </a:r>
          </a:p>
          <a:p>
            <a:r>
              <a:rPr lang="en-US" dirty="0"/>
              <a:t>Downside is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24DA2-F5DF-4BC2-88B0-0AB4E6FF68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716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5DD4-5A49-40D0-0F88-D49903E6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D97E7-B81F-5D4D-C4D3-741B508562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829821" cy="4479925"/>
          </a:xfrm>
        </p:spPr>
        <p:txBody>
          <a:bodyPr/>
          <a:lstStyle/>
          <a:p>
            <a:r>
              <a:rPr lang="en-US" dirty="0"/>
              <a:t>Use a midpoint offset to turn 0-5 V sine wave into a -5-5 mA current source</a:t>
            </a:r>
          </a:p>
          <a:p>
            <a:r>
              <a:rPr lang="en-US" dirty="0"/>
              <a:t>Tight tolerance resistor which has the voltage across it controlled such that current is known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59A58-35AC-83EB-E018-A31EB46402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33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B480-5176-1B5F-792F-379FB3DAA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A1471-B840-BB5B-42B1-508B4335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70D1A-3B5B-6253-FD9A-6AA3497980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875BE5-AE9F-F7F4-811C-8031D90B8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955" y="1275978"/>
            <a:ext cx="5677392" cy="51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14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FA90-96AD-4970-8C36-76A89555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Source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CD5AA-291B-3245-DD82-FDEF2CF081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Content Placeholder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C404127-3A03-406B-AED9-4F80AFA0CC0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79770" y="1194081"/>
            <a:ext cx="10438165" cy="5311697"/>
          </a:xfrm>
        </p:spPr>
      </p:pic>
    </p:spTree>
    <p:extLst>
      <p:ext uri="{BB962C8B-B14F-4D97-AF65-F5344CB8AC3E}">
        <p14:creationId xmlns:p14="http://schemas.microsoft.com/office/powerpoint/2010/main" val="643244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6C781-9AB5-68C2-CDF0-AE9B5AB8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22CC-8BFB-77D7-6632-D38D3330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A9A26-51A7-06E7-448D-BD4243058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Content Placeholder 7" descr="A diagram of a computer&#10;&#10;AI-generated content may be incorrect.">
            <a:extLst>
              <a:ext uri="{FF2B5EF4-FFF2-40B4-BE49-F238E27FC236}">
                <a16:creationId xmlns:a16="http://schemas.microsoft.com/office/drawing/2014/main" id="{6F5448C1-9B34-CF13-CAD9-FF7A47D1173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34173" y="1528674"/>
            <a:ext cx="5215769" cy="4099043"/>
          </a:xfrm>
        </p:spPr>
      </p:pic>
      <p:pic>
        <p:nvPicPr>
          <p:cNvPr id="10" name="Picture 9" descr="A white paper with text and symbols&#10;&#10;AI-generated content may be incorrect.">
            <a:extLst>
              <a:ext uri="{FF2B5EF4-FFF2-40B4-BE49-F238E27FC236}">
                <a16:creationId xmlns:a16="http://schemas.microsoft.com/office/drawing/2014/main" id="{EE098F21-918C-4467-6E83-C4EBE82F9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421" y="1234725"/>
            <a:ext cx="5979779" cy="478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23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1845-E26C-6985-878D-B130F8D0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Flyback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E3B09-4F85-4E47-A0CD-7D14778130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Get +/-30 V rails</a:t>
            </a:r>
          </a:p>
          <a:p>
            <a:r>
              <a:rPr lang="en-US" dirty="0"/>
              <a:t>Incur some losses from two switching converters, almost unavoidable</a:t>
            </a:r>
          </a:p>
          <a:p>
            <a:r>
              <a:rPr lang="en-US" dirty="0"/>
              <a:t>Feed into final amplifier stage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A9979-A4D0-259B-FF77-0AFABBF2DA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370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B7C16-1994-6014-3C73-9D30B3A6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E870-6971-3B7A-DDF8-076EBC42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8D7D0-E06D-4EE4-31DF-8F2E0ADFD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Content Placeholder 5" descr="A diagram of a circuit&#10;&#10;AI-generated content may be incorrect.">
            <a:extLst>
              <a:ext uri="{FF2B5EF4-FFF2-40B4-BE49-F238E27FC236}">
                <a16:creationId xmlns:a16="http://schemas.microsoft.com/office/drawing/2014/main" id="{C03BD0EC-224E-9607-8969-4C64EEC8B06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78487" y="1923086"/>
            <a:ext cx="6556375" cy="3732090"/>
          </a:xfrm>
        </p:spPr>
      </p:pic>
    </p:spTree>
    <p:extLst>
      <p:ext uri="{BB962C8B-B14F-4D97-AF65-F5344CB8AC3E}">
        <p14:creationId xmlns:p14="http://schemas.microsoft.com/office/powerpoint/2010/main" val="2484167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1107-5801-8423-12F3-F33141D2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4ACA-D393-0E9C-B01B-B0A846B6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47A89-E480-468B-0D82-F80A87F12D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Content Placeholder 7" descr="A diagram of a computer&#10;&#10;AI-generated content may be incorrect.">
            <a:extLst>
              <a:ext uri="{FF2B5EF4-FFF2-40B4-BE49-F238E27FC236}">
                <a16:creationId xmlns:a16="http://schemas.microsoft.com/office/drawing/2014/main" id="{D3DB8CB9-363A-7B8F-F637-ADD2D4BF06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141910" y="1496290"/>
            <a:ext cx="7127699" cy="5119391"/>
          </a:xfrm>
        </p:spPr>
      </p:pic>
    </p:spTree>
    <p:extLst>
      <p:ext uri="{BB962C8B-B14F-4D97-AF65-F5344CB8AC3E}">
        <p14:creationId xmlns:p14="http://schemas.microsoft.com/office/powerpoint/2010/main" val="3123140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EF5E-9D8E-D445-9FF0-0322DDB9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841375"/>
            <a:ext cx="10479024" cy="557784"/>
          </a:xfrm>
        </p:spPr>
        <p:txBody>
          <a:bodyPr/>
          <a:lstStyle/>
          <a:p>
            <a:r>
              <a:rPr lang="en-US" dirty="0"/>
              <a:t>Final Board Placement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18861-D9D3-3CBC-9C7D-E2BBE9AF7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9" name="Content Placeholder 8" descr="A computer chip with many different colored parts&#10;&#10;AI-generated content may be incorrect.">
            <a:extLst>
              <a:ext uri="{FF2B5EF4-FFF2-40B4-BE49-F238E27FC236}">
                <a16:creationId xmlns:a16="http://schemas.microsoft.com/office/drawing/2014/main" id="{AFC116D6-357C-F42F-2BC7-77B27B23732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85852" y="1399159"/>
            <a:ext cx="4979272" cy="5497366"/>
          </a:xfrm>
        </p:spPr>
      </p:pic>
      <p:pic>
        <p:nvPicPr>
          <p:cNvPr id="11" name="Picture 10" descr="A green circuit board with many small chips&#10;&#10;AI-generated content may be incorrect.">
            <a:extLst>
              <a:ext uri="{FF2B5EF4-FFF2-40B4-BE49-F238E27FC236}">
                <a16:creationId xmlns:a16="http://schemas.microsoft.com/office/drawing/2014/main" id="{DE4271F1-7F7C-5A0A-D891-5634E085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079" y="346362"/>
            <a:ext cx="5757838" cy="592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91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87B2-7474-6181-832E-132C3E27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Components</a:t>
            </a:r>
          </a:p>
        </p:txBody>
      </p:sp>
      <p:pic>
        <p:nvPicPr>
          <p:cNvPr id="6" name="Content Placeholder 5" descr="A blue circuit board with white and gold components&#10;&#10;AI-generated content may be incorrect.">
            <a:extLst>
              <a:ext uri="{FF2B5EF4-FFF2-40B4-BE49-F238E27FC236}">
                <a16:creationId xmlns:a16="http://schemas.microsoft.com/office/drawing/2014/main" id="{DE182F29-B81A-D733-93D8-4DB34A0C3E7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396" y="1666702"/>
            <a:ext cx="5087189" cy="36184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5A3FA-50E2-BDAB-F48B-35A7583690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 descr="A small black and white circuit board&#10;&#10;AI-generated content may be incorrect.">
            <a:extLst>
              <a:ext uri="{FF2B5EF4-FFF2-40B4-BE49-F238E27FC236}">
                <a16:creationId xmlns:a16="http://schemas.microsoft.com/office/drawing/2014/main" id="{1E2FED39-8D33-C62D-57ED-D04F6D9C6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593" y="1750466"/>
            <a:ext cx="4789516" cy="384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85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A208-278A-696A-CB83-600CE209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Programming interface with DDS and Web App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5BEBE1-344E-FC90-455A-8205A138FDE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658723" y="1719580"/>
            <a:ext cx="4888638" cy="44799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A6C44-2E8F-5C92-9047-E3A074BD9B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93A7D92-1E90-42F5-1603-AB142356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5" y="1719580"/>
            <a:ext cx="4967223" cy="41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33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952B-DB24-BDD9-7748-20F9423A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86"/>
            <a:ext cx="10479024" cy="557784"/>
          </a:xfrm>
        </p:spPr>
        <p:txBody>
          <a:bodyPr/>
          <a:lstStyle/>
          <a:p>
            <a:r>
              <a:rPr lang="en-US" dirty="0"/>
              <a:t>Programming interface for the ADC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D04729-9A3C-FA02-EEC9-97CC09B204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93086" y="4410849"/>
            <a:ext cx="2636897" cy="23673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F2621-5064-54E3-00E0-804CA2FA99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CEBC9AB-2969-CB51-B53E-5984AF0E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794" y="506902"/>
            <a:ext cx="4136138" cy="3880497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200DAF-5339-9C51-E4D4-F73C485A8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3" y="530352"/>
            <a:ext cx="3897908" cy="4479925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207E472-4696-3CAD-D10C-38AA0DE8A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769" y="530352"/>
            <a:ext cx="4423495" cy="537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60E7-D27A-1C0A-6CD5-364C193F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354B-C796-1926-1CEE-088B8D9B86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Current Expenses :</a:t>
            </a:r>
          </a:p>
          <a:p>
            <a:r>
              <a:rPr lang="en-US" dirty="0"/>
              <a:t>DDS Test Board: $33</a:t>
            </a:r>
          </a:p>
          <a:p>
            <a:r>
              <a:rPr lang="en-US" dirty="0"/>
              <a:t>Component Order: $140</a:t>
            </a:r>
          </a:p>
          <a:p>
            <a:r>
              <a:rPr lang="en-US" dirty="0"/>
              <a:t>Battery Order: $44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Total</a:t>
            </a:r>
            <a:r>
              <a:rPr lang="en-US"/>
              <a:t>: $217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9821-24B7-EE51-078D-0B7963AC20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95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160B-AF27-B7B9-795A-6950EC47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F76C4-2D7C-3DF9-F61F-30FCC2A901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Choosing Connector</a:t>
            </a:r>
          </a:p>
          <a:p>
            <a:r>
              <a:rPr lang="en-US" dirty="0"/>
              <a:t>Board sizing</a:t>
            </a:r>
          </a:p>
          <a:p>
            <a:r>
              <a:rPr lang="en-US" dirty="0"/>
              <a:t>Power supply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54A4F-408F-2AE8-E17D-8D70EF316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17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EF87-E3BB-A226-DCCF-2D45CE9B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9115-94A4-A2F8-8B11-947907F62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Order Board</a:t>
            </a:r>
          </a:p>
          <a:p>
            <a:r>
              <a:rPr lang="en-US" dirty="0"/>
              <a:t>Create software</a:t>
            </a:r>
          </a:p>
          <a:p>
            <a:r>
              <a:rPr lang="en-US" dirty="0"/>
              <a:t>Pray</a:t>
            </a:r>
          </a:p>
          <a:p>
            <a:r>
              <a:rPr lang="en-US" dirty="0"/>
              <a:t>Make housing</a:t>
            </a:r>
          </a:p>
          <a:p>
            <a:r>
              <a:rPr lang="en-US" dirty="0"/>
              <a:t>Component order</a:t>
            </a:r>
          </a:p>
          <a:p>
            <a:r>
              <a:rPr lang="en-US" dirty="0"/>
              <a:t>Report work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C2303-290B-35FB-A4CD-104764401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17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Questions/Feedback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247F30-5811-40C0-99EC-CF53200590BE}">
  <ds:schemaRefs>
    <ds:schemaRef ds:uri="http://schemas.microsoft.com/office/2006/metadata/properties"/>
    <ds:schemaRef ds:uri="http://purl.org/dc/elements/1.1/"/>
    <ds:schemaRef ds:uri="230e9df3-be65-4c73-a93b-d1236ebd677e"/>
    <ds:schemaRef ds:uri="16c05727-aa75-4e4a-9b5f-8a80a1165891"/>
    <ds:schemaRef ds:uri="http://purl.org/dc/terms/"/>
    <ds:schemaRef ds:uri="http://schemas.microsoft.com/office/2006/documentManagement/types"/>
    <ds:schemaRef ds:uri="71af3243-3dd4-4a8d-8c0d-dd76da1f02a5"/>
    <ds:schemaRef ds:uri="http://schemas.microsoft.com/sharepoint/v3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427</TotalTime>
  <Words>282</Words>
  <Application>Microsoft Office PowerPoint</Application>
  <PresentationFormat>Widescreen</PresentationFormat>
  <Paragraphs>75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Light</vt:lpstr>
      <vt:lpstr>Arial</vt:lpstr>
      <vt:lpstr>Calibri</vt:lpstr>
      <vt:lpstr>Custom</vt:lpstr>
      <vt:lpstr>Samad, Guandong, and Tyler </vt:lpstr>
      <vt:lpstr>Problem Description</vt:lpstr>
      <vt:lpstr>Key Events from Last Week</vt:lpstr>
      <vt:lpstr>Block Diagram</vt:lpstr>
      <vt:lpstr>Schematic Updates</vt:lpstr>
      <vt:lpstr>Schematic Updates Continued</vt:lpstr>
      <vt:lpstr>Kill Switch</vt:lpstr>
      <vt:lpstr>Switch from Audio Jack to BNC</vt:lpstr>
      <vt:lpstr>Current Source</vt:lpstr>
      <vt:lpstr>Schematic Updates Continued</vt:lpstr>
      <vt:lpstr>Current Source Simulation</vt:lpstr>
      <vt:lpstr>Schematic Updates Continued</vt:lpstr>
      <vt:lpstr>Flyback Converter</vt:lpstr>
      <vt:lpstr>Schematic Updates Continued</vt:lpstr>
      <vt:lpstr>Schematic Updates Continued</vt:lpstr>
      <vt:lpstr>Final Board Placement</vt:lpstr>
      <vt:lpstr>Other Components</vt:lpstr>
      <vt:lpstr>Updated Programming interface with DDS and Web App</vt:lpstr>
      <vt:lpstr>Programming interface for the ADC</vt:lpstr>
      <vt:lpstr>Budget</vt:lpstr>
      <vt:lpstr>Challenges so far</vt:lpstr>
      <vt:lpstr>Immediate Plan</vt:lpstr>
      <vt:lpstr>Questions/Feedback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White</dc:creator>
  <cp:lastModifiedBy>Samad Q</cp:lastModifiedBy>
  <cp:revision>40</cp:revision>
  <dcterms:created xsi:type="dcterms:W3CDTF">2025-09-17T17:10:44Z</dcterms:created>
  <dcterms:modified xsi:type="dcterms:W3CDTF">2025-11-19T18:35:52Z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