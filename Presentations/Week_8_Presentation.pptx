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05" r:id="rId5"/>
    <p:sldId id="306" r:id="rId6"/>
    <p:sldId id="319" r:id="rId7"/>
    <p:sldId id="341" r:id="rId8"/>
    <p:sldId id="346" r:id="rId9"/>
    <p:sldId id="340" r:id="rId10"/>
    <p:sldId id="347" r:id="rId11"/>
    <p:sldId id="344" r:id="rId12"/>
    <p:sldId id="350" r:id="rId13"/>
    <p:sldId id="353" r:id="rId14"/>
    <p:sldId id="352" r:id="rId15"/>
    <p:sldId id="359" r:id="rId16"/>
    <p:sldId id="343" r:id="rId17"/>
    <p:sldId id="354" r:id="rId18"/>
    <p:sldId id="355" r:id="rId19"/>
    <p:sldId id="356" r:id="rId20"/>
    <p:sldId id="357" r:id="rId21"/>
    <p:sldId id="345" r:id="rId22"/>
    <p:sldId id="360" r:id="rId23"/>
    <p:sldId id="358" r:id="rId24"/>
    <p:sldId id="331" r:id="rId25"/>
    <p:sldId id="330" r:id="rId26"/>
    <p:sldId id="31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82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7:3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10/22/2025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Samad, Guandong, and Tyler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/>
              <a:t>Brain Stimulator Progress Update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14:cNvPr>
              <p14:cNvContentPartPr/>
              <p14:nvPr/>
            </p14:nvContentPartPr>
            <p14:xfrm>
              <a:off x="11566767" y="136721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8127" y="135821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Make a device that can generate waveforms of precise frequency and current to stimulate deep parts of the brain using electrodes.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B587-29DC-E824-8689-36BC048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6BA8-0572-5BBA-D1BD-8EEF0B5F3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Bluetooth connectivity with between </a:t>
            </a:r>
            <a:r>
              <a:rPr lang="en-US" dirty="0" err="1"/>
              <a:t>rpi</a:t>
            </a:r>
            <a:r>
              <a:rPr lang="en-US" dirty="0"/>
              <a:t> and web app</a:t>
            </a:r>
          </a:p>
          <a:p>
            <a:r>
              <a:rPr lang="en-US" dirty="0"/>
              <a:t>Continued battery search</a:t>
            </a:r>
          </a:p>
          <a:p>
            <a:r>
              <a:rPr lang="en-US" dirty="0"/>
              <a:t>Work on web app – attempted SPI transfers</a:t>
            </a:r>
          </a:p>
          <a:p>
            <a:r>
              <a:rPr lang="en-US" dirty="0"/>
              <a:t>New LDO and routing everything to output transformer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045F-0937-10B0-D71D-D22F80DC6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4455-56CA-75DB-D974-355A89D86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481578"/>
            <a:ext cx="10479024" cy="557784"/>
          </a:xfrm>
        </p:spPr>
        <p:txBody>
          <a:bodyPr/>
          <a:lstStyle/>
          <a:p>
            <a:r>
              <a:rPr lang="en-US" dirty="0"/>
              <a:t>Bluetooth Connection to the MCU (Raspberry pi Pico W)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C30E5D-2BFB-1015-FBCD-1016AA93F5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7744" y="2217869"/>
            <a:ext cx="3876820" cy="33342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D54B-36CF-41DC-A88C-BB5E0C552C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9C1D11-172B-5CE7-159A-AE031419A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663" y="2255856"/>
            <a:ext cx="5305229" cy="3334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9D834F-6439-81CD-9426-AB82F37C1215}"/>
              </a:ext>
            </a:extLst>
          </p:cNvPr>
          <p:cNvSpPr txBox="1"/>
          <p:nvPr/>
        </p:nvSpPr>
        <p:spPr>
          <a:xfrm>
            <a:off x="237744" y="1910594"/>
            <a:ext cx="4900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Helpers for generating BLE advertising payloads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6EF18-5124-EA78-1FA9-31412F3324D4}"/>
              </a:ext>
            </a:extLst>
          </p:cNvPr>
          <p:cNvSpPr txBox="1"/>
          <p:nvPr/>
        </p:nvSpPr>
        <p:spPr>
          <a:xfrm>
            <a:off x="6781943" y="1910092"/>
            <a:ext cx="25737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Creates a simple BLE peripheral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C08A6-D98D-917E-4CF0-6E2C6A3733C6}"/>
              </a:ext>
            </a:extLst>
          </p:cNvPr>
          <p:cNvSpPr txBox="1"/>
          <p:nvPr/>
        </p:nvSpPr>
        <p:spPr>
          <a:xfrm>
            <a:off x="5844131" y="6510425"/>
            <a:ext cx="5917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https://electrocredible.com/raspberry-pi-pico-w-bluetooth-ble-micropython/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31356-188C-E027-7DF5-209775113DB5}"/>
              </a:ext>
            </a:extLst>
          </p:cNvPr>
          <p:cNvSpPr txBox="1"/>
          <p:nvPr/>
        </p:nvSpPr>
        <p:spPr>
          <a:xfrm>
            <a:off x="164592" y="1216175"/>
            <a:ext cx="872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Save two </a:t>
            </a:r>
            <a:r>
              <a:rPr lang="en-US" b="1" dirty="0" err="1"/>
              <a:t>MicroPython</a:t>
            </a:r>
            <a:r>
              <a:rPr lang="en-US" b="1" dirty="0"/>
              <a:t> modules in our RPi Pico to communicate via Bluetooth Low Energy</a:t>
            </a:r>
          </a:p>
        </p:txBody>
      </p:sp>
    </p:spTree>
    <p:extLst>
      <p:ext uri="{BB962C8B-B14F-4D97-AF65-F5344CB8AC3E}">
        <p14:creationId xmlns:p14="http://schemas.microsoft.com/office/powerpoint/2010/main" val="419201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3279-5ECE-19B2-9505-5DA07CA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252484"/>
            <a:ext cx="10479024" cy="557784"/>
          </a:xfrm>
        </p:spPr>
        <p:txBody>
          <a:bodyPr/>
          <a:lstStyle/>
          <a:p>
            <a:r>
              <a:rPr lang="en-US" dirty="0"/>
              <a:t>SPI Testing with The Raspberry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7D83-2786-DC32-1573-8473AE62BA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1F249A-B5A5-86CC-C720-76218E9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948767"/>
            <a:ext cx="4517706" cy="4050792"/>
          </a:xfrm>
          <a:prstGeom prst="rect">
            <a:avLst/>
          </a:prstGeom>
        </p:spPr>
      </p:pic>
      <p:pic>
        <p:nvPicPr>
          <p:cNvPr id="14" name="Content Placeholder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0A6CE92-24E3-F73E-0BFE-1849797A617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rcRect r="26573"/>
          <a:stretch>
            <a:fillRect/>
          </a:stretch>
        </p:blipFill>
        <p:spPr>
          <a:xfrm>
            <a:off x="6183734" y="766108"/>
            <a:ext cx="5515813" cy="4811427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73B6B0-9AE4-B320-0E5B-DE78AB08CFA5}"/>
              </a:ext>
            </a:extLst>
          </p:cNvPr>
          <p:cNvSpPr txBox="1"/>
          <p:nvPr/>
        </p:nvSpPr>
        <p:spPr>
          <a:xfrm>
            <a:off x="295417" y="6016090"/>
            <a:ext cx="440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Next, we need to test it with DDS directly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81FEFB-1AD7-993B-3DAB-B32FD9B2F743}"/>
              </a:ext>
            </a:extLst>
          </p:cNvPr>
          <p:cNvSpPr txBox="1"/>
          <p:nvPr/>
        </p:nvSpPr>
        <p:spPr>
          <a:xfrm>
            <a:off x="676404" y="4999558"/>
            <a:ext cx="3640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simulates writing to a function register in the DDS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53A443-D87F-363E-3C1A-B5DFACF268A5}"/>
              </a:ext>
            </a:extLst>
          </p:cNvPr>
          <p:cNvSpPr txBox="1"/>
          <p:nvPr/>
        </p:nvSpPr>
        <p:spPr>
          <a:xfrm>
            <a:off x="7671174" y="5577535"/>
            <a:ext cx="2708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Waveform caught by oscilloscope</a:t>
            </a:r>
          </a:p>
        </p:txBody>
      </p:sp>
    </p:spTree>
    <p:extLst>
      <p:ext uri="{BB962C8B-B14F-4D97-AF65-F5344CB8AC3E}">
        <p14:creationId xmlns:p14="http://schemas.microsoft.com/office/powerpoint/2010/main" val="320134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B119-0827-0F05-F370-25FD6C3CD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BEB7-8EA3-3C43-A53D-A5B93A75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AF4A-430E-93B3-1CF6-790E933B6B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Choosing browser based for best portability</a:t>
            </a:r>
          </a:p>
          <a:p>
            <a:r>
              <a:rPr lang="en-US" dirty="0"/>
              <a:t>Using </a:t>
            </a:r>
            <a:r>
              <a:rPr lang="en-US" dirty="0" err="1"/>
              <a:t>webbluetooth</a:t>
            </a:r>
            <a:r>
              <a:rPr lang="en-US" dirty="0"/>
              <a:t> with JS</a:t>
            </a:r>
          </a:p>
          <a:p>
            <a:r>
              <a:rPr lang="en-US" dirty="0"/>
              <a:t>Need room to expand easily to more channels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E13FE-EA4D-8BE9-A86E-14F92820A7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C048-7E81-9819-0A16-41657E4E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D5BD-34AB-8472-C193-3F6EDABE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204C4-D8F2-9ECA-179F-BDF86660CD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Enable/disable on outputs</a:t>
            </a:r>
          </a:p>
          <a:p>
            <a:r>
              <a:rPr lang="en-US" dirty="0"/>
              <a:t>Beat frequency calculation</a:t>
            </a:r>
          </a:p>
          <a:p>
            <a:r>
              <a:rPr lang="en-US" dirty="0"/>
              <a:t>Non-volatile programming capable (How to modify code? Constant address?)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94692-6EDA-9314-A827-8908AC65C1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3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EA5B-9A91-D14B-B3EF-A803C1FF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42CA-1831-6008-1E1C-357704BF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42D47-A06F-B58F-5DF1-EFA40045E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5556E4-477A-2595-A470-09D3D00588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3183421" cy="4479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(I &lt;3 CSS)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57390-5645-A6B1-BE3D-17DA9E16B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88" y="499619"/>
            <a:ext cx="7355086" cy="59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09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FBE2-500F-E536-2996-C5BB29E4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 Backend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24FF-8EE8-9987-4CE6-F78ED26F5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0B8C3-60D4-3940-9AF4-816406894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96" y="1728067"/>
            <a:ext cx="5469163" cy="40458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04E32-ACF4-8961-4186-41C6C8B8E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859" y="118077"/>
            <a:ext cx="6432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5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0BD1-105D-F6BA-2EA3-D9B3277C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472577"/>
            <a:ext cx="10479024" cy="557784"/>
          </a:xfrm>
        </p:spPr>
        <p:txBody>
          <a:bodyPr/>
          <a:lstStyle/>
          <a:p>
            <a:r>
              <a:rPr lang="en-US" dirty="0"/>
              <a:t>Writes to two channels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9BA01E-A295-356F-4918-76AFB9344FC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28081" r="27613"/>
          <a:stretch>
            <a:fillRect/>
          </a:stretch>
        </p:blipFill>
        <p:spPr>
          <a:xfrm>
            <a:off x="569763" y="1426464"/>
            <a:ext cx="3017519" cy="45841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4BBF1-9E09-57D2-A47D-19B483BB1D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885C6-1259-1EDD-CF24-4EB7B48BA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125" y="1617402"/>
            <a:ext cx="7345075" cy="36231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587ECF6-6E0E-101F-BE62-D3A0520E1A8D}"/>
              </a:ext>
            </a:extLst>
          </p:cNvPr>
          <p:cNvSpPr/>
          <p:nvPr/>
        </p:nvSpPr>
        <p:spPr>
          <a:xfrm>
            <a:off x="1534454" y="4719633"/>
            <a:ext cx="1088136" cy="2286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E75CD2-F617-D968-3E5E-F534E54CA6D2}"/>
              </a:ext>
            </a:extLst>
          </p:cNvPr>
          <p:cNvSpPr/>
          <p:nvPr/>
        </p:nvSpPr>
        <p:spPr>
          <a:xfrm>
            <a:off x="1534454" y="3843470"/>
            <a:ext cx="1088136" cy="2286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23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15E8-CED6-EC5D-1E25-10BE8CAC2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56876"/>
            <a:ext cx="10479024" cy="557784"/>
          </a:xfrm>
        </p:spPr>
        <p:txBody>
          <a:bodyPr/>
          <a:lstStyle/>
          <a:p>
            <a:r>
              <a:rPr lang="en-US" dirty="0"/>
              <a:t>RPI Backend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65993F-8B71-A7F5-92D1-26685993027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166895" y="2363037"/>
            <a:ext cx="5172673" cy="416638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4E81A-3EE8-369E-1622-7C953DA182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F0C61-2416-AD0A-A243-B3A538268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62" y="1202608"/>
            <a:ext cx="5082506" cy="49173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6DEF7C-40A0-6DBA-3898-38B5FBFBC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111" y="65190"/>
            <a:ext cx="3704351" cy="210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15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90B1-80DF-8862-E740-9C345A09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44" y="143866"/>
            <a:ext cx="10479024" cy="557784"/>
          </a:xfrm>
        </p:spPr>
        <p:txBody>
          <a:bodyPr/>
          <a:lstStyle/>
          <a:p>
            <a:r>
              <a:rPr lang="en-US" dirty="0"/>
              <a:t>Flash memory to store last used frequencies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74B5-8938-7A39-4211-7B3EA80044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C05E05-FC6F-641D-F1A8-249AA6C70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370" y="4926476"/>
            <a:ext cx="4249151" cy="1746946"/>
          </a:xfrm>
          <a:prstGeom prst="rect">
            <a:avLst/>
          </a:prstGeom>
        </p:spPr>
      </p:pic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5FEED59-0F69-031A-2599-DA4C84C7F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26" y="847386"/>
            <a:ext cx="5436142" cy="5163228"/>
          </a:xfrm>
          <a:prstGeom prst="rect">
            <a:avLst/>
          </a:prstGeom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2BD7DF3-4529-D20A-236C-0B9CFC808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801" y="542628"/>
            <a:ext cx="4919633" cy="427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40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B3F5-AD24-9523-E1AE-99FA63E7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BB1C-CE7E-7141-33E4-8B55F14E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 for Battery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A21FF-2EC5-7EBA-C832-FF7C95A8AF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Calculate required amp hours to narrow search</a:t>
            </a:r>
          </a:p>
          <a:p>
            <a:r>
              <a:rPr lang="en-US" dirty="0"/>
              <a:t>Find something with integrated BMS</a:t>
            </a:r>
          </a:p>
          <a:p>
            <a:r>
              <a:rPr lang="en-US" dirty="0"/>
              <a:t>Use dimensions to make housing and board dimensions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5E59D-CE39-C54E-FB67-04781B0463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02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2EE2-EEFF-C23B-1E0F-BD0F542A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4907BEB-BC52-D2F7-1119-716AB7BEC0E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2979" y="1299513"/>
            <a:ext cx="9312621" cy="494535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012A9-C0A1-44EF-BD2C-4E37135BD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5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C611-5B79-FFE4-35B2-36764084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DC-DC Converter</a:t>
            </a:r>
          </a:p>
        </p:txBody>
      </p:sp>
      <p:pic>
        <p:nvPicPr>
          <p:cNvPr id="6" name="Content Placeholder 5" descr="A computer chip on a grey surface&#10;&#10;AI-generated content may be incorrect.">
            <a:extLst>
              <a:ext uri="{FF2B5EF4-FFF2-40B4-BE49-F238E27FC236}">
                <a16:creationId xmlns:a16="http://schemas.microsoft.com/office/drawing/2014/main" id="{CF13FD14-684D-9534-ADD5-4602E42C32A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57719" y="1399032"/>
            <a:ext cx="10076561" cy="51998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147E8-EEEA-FD84-15A1-473A51471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669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902B-18B1-0E6F-AC82-6E7526AB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</a:t>
            </a:r>
          </a:p>
        </p:txBody>
      </p:sp>
      <p:pic>
        <p:nvPicPr>
          <p:cNvPr id="6" name="Content Placeholder 5" descr="A diagram of a computer&#10;&#10;AI-generated content may be incorrect.">
            <a:extLst>
              <a:ext uri="{FF2B5EF4-FFF2-40B4-BE49-F238E27FC236}">
                <a16:creationId xmlns:a16="http://schemas.microsoft.com/office/drawing/2014/main" id="{DE14FB01-DA81-C4B5-332C-CE43137A6D1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5328" y="2053834"/>
            <a:ext cx="5954280" cy="33783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85E9-846C-2E2A-9424-FADD93571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03964E-432A-C1A0-7939-720C2C37A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6" y="491773"/>
            <a:ext cx="5303980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5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D432-5C1D-ECBE-0793-A7FDF413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6AA2-EF54-8956-A8BE-8F30BD04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383D7-4D17-DF63-06BF-113898787F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61D364-E73D-3013-104A-6E9AF849DCC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18307" y="1536827"/>
            <a:ext cx="6095339" cy="4479925"/>
          </a:xfrm>
        </p:spPr>
      </p:pic>
    </p:spTree>
    <p:extLst>
      <p:ext uri="{BB962C8B-B14F-4D97-AF65-F5344CB8AC3E}">
        <p14:creationId xmlns:p14="http://schemas.microsoft.com/office/powerpoint/2010/main" val="1930837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7465-FF12-8771-90E3-D8C84591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8FE5-7D3E-F458-7C2D-01B4074A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DDS Test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CE310-BB05-4BAD-9325-E1F6B1F602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For SPI and programming – Doesn’t blow up!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84B4E-260A-8EAB-98A9-C6E37125EF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240E05DB-CF9E-5B2E-BC88-952063D7E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029" y="2336605"/>
            <a:ext cx="4780422" cy="386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14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ADBD-0708-8990-A37E-71CD097E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dirty="0"/>
              <a:t>ADC Breakout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DE0F1-FFD7-078B-A727-5B3A618450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/>
          <a:p>
            <a:r>
              <a:rPr lang="en-US" dirty="0"/>
              <a:t>Needs to be ordered and tested</a:t>
            </a:r>
          </a:p>
        </p:txBody>
      </p:sp>
      <p:pic>
        <p:nvPicPr>
          <p:cNvPr id="6" name="Picture 5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8FD489EF-6C90-F4A7-44FF-7059E6C3B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536827"/>
            <a:ext cx="5120640" cy="448056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1A844-B626-AC51-ACF1-142BF82596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12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48A8-F29C-F927-B681-BA4E85BF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DDS Board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816C-28ED-63DB-CB3B-F43A9840EE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Connected DDS to RPI and attempted to initiate SPI transactions. Have so far been unable to see the transactions output on the designated SPI lines. Have not diagnosed the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0EE2-84B5-C4CA-450E-5C0A3AB523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98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60B-AF27-B7B9-795A-6950EC47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76C4-2D7C-3DF9-F61F-30FCC2A90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Height limit with isolation transformers</a:t>
            </a:r>
          </a:p>
          <a:p>
            <a:r>
              <a:rPr lang="en-US" dirty="0"/>
              <a:t>Amplifier sourcing/creation</a:t>
            </a:r>
          </a:p>
          <a:p>
            <a:r>
              <a:rPr lang="en-US" dirty="0"/>
              <a:t>DDS </a:t>
            </a:r>
            <a:r>
              <a:rPr lang="en-US" dirty="0" err="1"/>
              <a:t>Verificaiton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54A4F-408F-2AE8-E17D-8D70EF316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17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EF87-E3BB-A226-DCCF-2D45CE9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9115-94A4-A2F8-8B11-947907F6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Continue schematic and symbol creation</a:t>
            </a:r>
          </a:p>
          <a:p>
            <a:r>
              <a:rPr lang="en-US" dirty="0"/>
              <a:t>Find battery for device</a:t>
            </a:r>
          </a:p>
          <a:p>
            <a:r>
              <a:rPr lang="en-US" dirty="0"/>
              <a:t>Determine board measurements for housing</a:t>
            </a:r>
          </a:p>
          <a:p>
            <a:r>
              <a:rPr lang="en-US" dirty="0"/>
              <a:t>DDS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2303-290B-35FB-A4CD-104764401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17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Questions/Feedback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285</TotalTime>
  <Words>352</Words>
  <Application>Microsoft Office PowerPoint</Application>
  <PresentationFormat>Widescreen</PresentationFormat>
  <Paragraphs>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Light</vt:lpstr>
      <vt:lpstr>Arial</vt:lpstr>
      <vt:lpstr>Calibri</vt:lpstr>
      <vt:lpstr>Custom</vt:lpstr>
      <vt:lpstr>Samad, Guandong, and Tyler </vt:lpstr>
      <vt:lpstr>Problem Description</vt:lpstr>
      <vt:lpstr>Key Events from Last Week</vt:lpstr>
      <vt:lpstr>Bluetooth Connection to the MCU (Raspberry pi Pico W)</vt:lpstr>
      <vt:lpstr>SPI Testing with The Raspberry PI</vt:lpstr>
      <vt:lpstr>Web App</vt:lpstr>
      <vt:lpstr>Web App</vt:lpstr>
      <vt:lpstr>Web App Continued</vt:lpstr>
      <vt:lpstr>Web App Backend</vt:lpstr>
      <vt:lpstr>Writes to two channels</vt:lpstr>
      <vt:lpstr>RPI Backend</vt:lpstr>
      <vt:lpstr>Flash memory to store last used frequencies</vt:lpstr>
      <vt:lpstr>Plans for Battery</vt:lpstr>
      <vt:lpstr>Simulation</vt:lpstr>
      <vt:lpstr>DC-DC Converter</vt:lpstr>
      <vt:lpstr>Schematic Updates</vt:lpstr>
      <vt:lpstr>Schematic Updates Continued</vt:lpstr>
      <vt:lpstr>DDS Test Board</vt:lpstr>
      <vt:lpstr>ADC Breakout board</vt:lpstr>
      <vt:lpstr>DDS Board Testing</vt:lpstr>
      <vt:lpstr>Challenges so far</vt:lpstr>
      <vt:lpstr>Immediate Plan</vt:lpstr>
      <vt:lpstr>Questions/Feedback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White</dc:creator>
  <cp:lastModifiedBy>Samad Q</cp:lastModifiedBy>
  <cp:revision>24</cp:revision>
  <dcterms:created xsi:type="dcterms:W3CDTF">2025-09-17T17:10:44Z</dcterms:created>
  <dcterms:modified xsi:type="dcterms:W3CDTF">2025-10-22T17:06:47Z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